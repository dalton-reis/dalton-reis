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7" r:id="rId5"/>
    <p:sldId id="599" r:id="rId6"/>
    <p:sldId id="268" r:id="rId7"/>
    <p:sldId id="600" r:id="rId8"/>
    <p:sldId id="2232" r:id="rId9"/>
    <p:sldId id="601" r:id="rId10"/>
    <p:sldId id="598" r:id="rId11"/>
    <p:sldId id="549" r:id="rId12"/>
    <p:sldId id="2231" r:id="rId13"/>
    <p:sldId id="597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B119"/>
    <a:srgbClr val="0B76A0"/>
    <a:srgbClr val="FAFAFA"/>
    <a:srgbClr val="3B7D23"/>
    <a:srgbClr val="FC9B07"/>
    <a:srgbClr val="0092F3"/>
    <a:srgbClr val="F2F7FC"/>
    <a:srgbClr val="EAF2FA"/>
    <a:srgbClr val="F8E4F6"/>
    <a:srgbClr val="D9D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95E24D-454C-4243-BD2F-0485D6646790}" v="34" dt="2026-09-21T12:10:42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00"/>
    <p:restoredTop sz="94643"/>
  </p:normalViewPr>
  <p:slideViewPr>
    <p:cSldViewPr snapToGrid="0">
      <p:cViewPr varScale="1">
        <p:scale>
          <a:sx n="110" d="100"/>
          <a:sy n="110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67F16-E0E4-4F57-AD45-54267430BCAC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B5BB0-4184-4DCD-AA63-742CE89527C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000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B5BB0-4184-4DCD-AA63-742CE89527C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14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7128C-5B5C-2D3A-8F82-EF6DD04F5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FE1508-4785-E2D7-1EF8-EFF58F0F6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D6CFD8-347B-7C1F-F9AF-69986093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96C41D-C433-AC88-76DC-6418A942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EDD98D-B0E5-25E7-7EED-27F1A4AAB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153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1D6D3-1652-6E8E-6737-6994CD164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FEB0CA-A2EE-BEAD-A593-F6C3EC771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682562-547D-B56F-2317-90C6C338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EC1B5F-0D9E-6BFD-0D6A-184C26781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E61BDE-8823-D229-D5F3-910118B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425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92579-C140-0379-43F0-DABFD29D8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CAEFA5-EC92-C475-7584-490F8F375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36B61E-17CE-55AA-1212-43274B7D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1B5330-35FC-AAD0-5E8D-03CF99DBF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464FC6-489D-3BFD-1D18-ACCD33F1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920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7CBF8-B784-1858-7822-705D70BD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D7D63E-D014-D581-6DDD-1AE26701D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4F718F-F640-020D-1271-6B2D3FE81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DAEF75-8C41-472E-1408-BA875CE7C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AA5336-7B87-D111-761C-729054EC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F30A9D-6D21-3F21-9734-C50E95AF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046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913FA-9E1D-6900-05BE-28CD694E8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0BA56B-6241-4EDF-58F2-9FE609219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594430-DBFB-5265-1D2B-B01777F2F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33AB66-D4E8-0672-F043-E463094B9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073655-9A58-CF40-3C4D-90561CCC0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642CE02-6A14-6D6D-D90D-443609BE3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C23772A-7503-4707-328F-43297C28E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3DFE728-0D68-0A8B-0BC0-E52DAF2D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4808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8E8AC-C6D3-A1C1-D6F7-378950EAE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C2EC67-C52F-ECF1-02AC-A09B0A66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08A86E5-88E0-6144-48EC-8467B3E1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81F909-131B-6637-4AF6-F49EE6B8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204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CFF207F-3D49-CBEB-2147-E87BD7CD5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D22A60D-03DE-F139-378B-EB10D163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4F0D43-BF60-4FB5-9954-A2DE211F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518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6265A-6A7C-F873-8465-62A6A5DD5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B49468-322D-12D9-6A17-B3B529AC0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46341A-65BB-6D74-24E3-D24704EB8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EE93FB-2B9C-633D-EFBB-3BF6D79D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8B2608-25F6-2E79-35C1-63031AC33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30B68F-852A-71D1-8183-FE059B63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97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1659D-01E1-EFB6-EB7E-8B0D4EDC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ADFF07-92DC-521E-17FC-3941D20DC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34F022-61A0-DAD2-254E-68A76894B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333B44-DC44-343C-5966-FC2070CA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F3DB37-8AD7-9FED-B15F-195BEB45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76C80D-9C50-45A8-1AB7-0CE52667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98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93248-D673-761B-4D35-2CCD5935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63E955-BF64-7F7D-F88F-93016B167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8B40AA-E71A-D315-1FAE-E64E57969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804CDC-C71A-3084-D4E0-B10DAF919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5D5BC3-C8AF-21EE-7EDD-5B51B3E1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209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5B74E3-252C-28F1-6A23-10443031D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B758A4-595A-F522-1F09-B153F0561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D01E2E-6A60-518F-D35A-9582C23DF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ADAF90-EDE3-F89D-8EAF-68755E07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90A5A9-8ED0-C001-02BF-2EE14F9D8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643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048200" y="410826"/>
            <a:ext cx="10095600" cy="936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◎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1205845" y="6333134"/>
            <a:ext cx="7316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607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93572AA-9B7D-9D98-F73B-AFA80697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8CC7D9-DEE9-4272-B474-05306DAC3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B9EA2B-DED6-8122-E960-2684501C38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C03BC-CACA-48D0-829C-0B0B2D6EF3F8}" type="datetimeFigureOut">
              <a:rPr lang="pt-BR" smtClean="0"/>
              <a:t>22/09/2026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2F15F4-6168-62D1-B3B9-40F9D7C93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974D6B-283B-49AD-8F88-77815C790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71AA42-4D08-4C23-ABB8-42696D6911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155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8.png"/><Relationship Id="rId7" Type="http://schemas.openxmlformats.org/officeDocument/2006/relationships/hyperlink" Target="https://www.todamateria.com.br/bandeira-da-italia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731A410-9F30-2D68-36DD-9344F0941EC9}"/>
              </a:ext>
            </a:extLst>
          </p:cNvPr>
          <p:cNvSpPr/>
          <p:nvPr/>
        </p:nvSpPr>
        <p:spPr>
          <a:xfrm>
            <a:off x="-1" y="-104840"/>
            <a:ext cx="12192001" cy="759059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co 7">
            <a:extLst>
              <a:ext uri="{FF2B5EF4-FFF2-40B4-BE49-F238E27FC236}">
                <a16:creationId xmlns:a16="http://schemas.microsoft.com/office/drawing/2014/main" id="{D4EF8835-173B-F3D0-3C52-3DC54E0D1E77}"/>
              </a:ext>
            </a:extLst>
          </p:cNvPr>
          <p:cNvSpPr/>
          <p:nvPr/>
        </p:nvSpPr>
        <p:spPr>
          <a:xfrm>
            <a:off x="925527" y="-879856"/>
            <a:ext cx="4023360" cy="8617712"/>
          </a:xfrm>
          <a:prstGeom prst="arc">
            <a:avLst>
              <a:gd name="adj1" fmla="val 17170684"/>
              <a:gd name="adj2" fmla="val 4501807"/>
            </a:avLst>
          </a:prstGeom>
          <a:ln>
            <a:solidFill>
              <a:srgbClr val="0092F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0F80B2E-FCC7-E5BF-CCD8-231E00AD4A45}"/>
              </a:ext>
            </a:extLst>
          </p:cNvPr>
          <p:cNvSpPr txBox="1">
            <a:spLocks/>
          </p:cNvSpPr>
          <p:nvPr/>
        </p:nvSpPr>
        <p:spPr>
          <a:xfrm>
            <a:off x="355742" y="1021437"/>
            <a:ext cx="4318253" cy="20957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kern="0" dirty="0">
                <a:latin typeface="Acumin Pro" panose="020B0504020202020204" pitchFamily="34" charset="0"/>
                <a:ea typeface="Times New Roman" panose="02020603050405020304" pitchFamily="18" charset="0"/>
              </a:rPr>
              <a:t>Da Realidade Virtual ao Metaverso: </a:t>
            </a:r>
          </a:p>
          <a:p>
            <a:r>
              <a:rPr lang="pt-BR" sz="3600" b="1" kern="0" dirty="0">
                <a:latin typeface="Acumin Pro" panose="020B0504020202020204" pitchFamily="34" charset="0"/>
                <a:ea typeface="Times New Roman" panose="02020603050405020304" pitchFamily="18" charset="0"/>
              </a:rPr>
              <a:t>o que já fizemos e para onde vamos</a:t>
            </a:r>
            <a:endParaRPr lang="en-US" sz="3600" dirty="0">
              <a:latin typeface="Acumin Pro" panose="020B050402020202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E3AE7C2-F9D9-3E22-C7BE-8E3D1B0959FD}"/>
              </a:ext>
            </a:extLst>
          </p:cNvPr>
          <p:cNvSpPr txBox="1">
            <a:spLocks/>
          </p:cNvSpPr>
          <p:nvPr/>
        </p:nvSpPr>
        <p:spPr>
          <a:xfrm>
            <a:off x="168680" y="4228658"/>
            <a:ext cx="4525702" cy="1399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00"/>
              </a:spcBef>
              <a:buNone/>
            </a:pPr>
            <a:r>
              <a:rPr lang="pt-BR" sz="2400" kern="0" dirty="0">
                <a:latin typeface="Acumin Pro" panose="020B0504020202020204" pitchFamily="34" charset="0"/>
                <a:ea typeface="Times New Roman" panose="02020603050405020304" pitchFamily="18" charset="0"/>
              </a:rPr>
              <a:t>Prof. Bruno Fischer Ferreira Santos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pt-BR" sz="2400" kern="0" dirty="0">
                <a:latin typeface="Acumin Pro" panose="020B0504020202020204" pitchFamily="34" charset="0"/>
                <a:ea typeface="Times New Roman" panose="02020603050405020304" pitchFamily="18" charset="0"/>
              </a:rPr>
              <a:t>Leonardo Linhares Silva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pt-BR" sz="2400" kern="0" dirty="0">
                <a:latin typeface="Acumin Pro" panose="020B0504020202020204" pitchFamily="34" charset="0"/>
                <a:ea typeface="Times New Roman" panose="02020603050405020304" pitchFamily="18" charset="0"/>
              </a:rPr>
              <a:t>Bernardo </a:t>
            </a:r>
            <a:r>
              <a:rPr lang="pt-BR" sz="2400" kern="0" dirty="0" err="1">
                <a:latin typeface="Acumin Pro" panose="020B0504020202020204" pitchFamily="34" charset="0"/>
                <a:ea typeface="Times New Roman" panose="02020603050405020304" pitchFamily="18" charset="0"/>
              </a:rPr>
              <a:t>Chiamolera</a:t>
            </a:r>
            <a:endParaRPr lang="en-US" sz="2400" dirty="0">
              <a:latin typeface="Acumin Pro" panose="020B05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1E61876-758F-2C22-EE71-AB938C8224AF}"/>
              </a:ext>
            </a:extLst>
          </p:cNvPr>
          <p:cNvSpPr/>
          <p:nvPr/>
        </p:nvSpPr>
        <p:spPr>
          <a:xfrm>
            <a:off x="477981" y="625683"/>
            <a:ext cx="704088" cy="146305"/>
          </a:xfrm>
          <a:prstGeom prst="rect">
            <a:avLst/>
          </a:prstGeom>
          <a:solidFill>
            <a:srgbClr val="0092F3"/>
          </a:solidFill>
          <a:ln>
            <a:solidFill>
              <a:srgbClr val="009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81055A5-916B-3FEF-B1A0-C3B20507C99B}"/>
              </a:ext>
            </a:extLst>
          </p:cNvPr>
          <p:cNvCxnSpPr/>
          <p:nvPr/>
        </p:nvCxnSpPr>
        <p:spPr>
          <a:xfrm>
            <a:off x="462071" y="3600690"/>
            <a:ext cx="4105594" cy="0"/>
          </a:xfrm>
          <a:prstGeom prst="line">
            <a:avLst/>
          </a:prstGeom>
          <a:ln>
            <a:solidFill>
              <a:srgbClr val="009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 descr="Logotipo, nome da empresa">
            <a:extLst>
              <a:ext uri="{FF2B5EF4-FFF2-40B4-BE49-F238E27FC236}">
                <a16:creationId xmlns:a16="http://schemas.microsoft.com/office/drawing/2014/main" id="{408D4B1D-E437-082E-378B-A7ABF9F8E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433" y="1305996"/>
            <a:ext cx="6439825" cy="3622402"/>
          </a:xfrm>
          <a:prstGeom prst="rect">
            <a:avLst/>
          </a:prstGeom>
        </p:spPr>
      </p:pic>
      <p:pic>
        <p:nvPicPr>
          <p:cNvPr id="6" name="Imagem 5" descr="Uma imagem contendo Aplicativo&#10;&#10;O conteúdo gerado por IA pode estar incorreto.">
            <a:extLst>
              <a:ext uri="{FF2B5EF4-FFF2-40B4-BE49-F238E27FC236}">
                <a16:creationId xmlns:a16="http://schemas.microsoft.com/office/drawing/2014/main" id="{30D526C1-F372-4BF9-C640-4727FA83B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32" b="29980"/>
          <a:stretch>
            <a:fillRect/>
          </a:stretch>
        </p:blipFill>
        <p:spPr>
          <a:xfrm>
            <a:off x="369494" y="6175263"/>
            <a:ext cx="3735692" cy="797592"/>
          </a:xfrm>
          <a:prstGeom prst="rect">
            <a:avLst/>
          </a:prstGeom>
        </p:spPr>
      </p:pic>
      <p:sp>
        <p:nvSpPr>
          <p:cNvPr id="12" name="Subtítulo 2">
            <a:extLst>
              <a:ext uri="{FF2B5EF4-FFF2-40B4-BE49-F238E27FC236}">
                <a16:creationId xmlns:a16="http://schemas.microsoft.com/office/drawing/2014/main" id="{865551CF-2974-D247-96C7-799ECE74CDC1}"/>
              </a:ext>
            </a:extLst>
          </p:cNvPr>
          <p:cNvSpPr txBox="1">
            <a:spLocks/>
          </p:cNvSpPr>
          <p:nvPr/>
        </p:nvSpPr>
        <p:spPr>
          <a:xfrm>
            <a:off x="369494" y="283941"/>
            <a:ext cx="3413083" cy="60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kern="0" dirty="0">
                <a:latin typeface="Acumin Pro" panose="020B0504020202020204" pitchFamily="34" charset="0"/>
                <a:ea typeface="Times New Roman" panose="02020603050405020304" pitchFamily="18" charset="0"/>
              </a:rPr>
              <a:t>Oficina</a:t>
            </a:r>
            <a:endParaRPr lang="en-US" sz="2000" dirty="0">
              <a:latin typeface="Acumin Pro" panose="020B05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3DD2F03-1EC9-26E4-FF15-4333FAA31266}"/>
              </a:ext>
            </a:extLst>
          </p:cNvPr>
          <p:cNvSpPr txBox="1"/>
          <p:nvPr/>
        </p:nvSpPr>
        <p:spPr>
          <a:xfrm>
            <a:off x="5500546" y="4851106"/>
            <a:ext cx="63357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rgbClr val="0092F3"/>
                </a:solidFill>
              </a:rPr>
              <a:t>[ </a:t>
            </a:r>
            <a:r>
              <a:rPr lang="pt-BR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Códigos que constroem. Conhecimento que conecta </a:t>
            </a:r>
            <a:r>
              <a:rPr lang="pt-BR" sz="2000" dirty="0">
                <a:solidFill>
                  <a:srgbClr val="0092F3"/>
                </a:solidFill>
              </a:rPr>
              <a:t>]</a:t>
            </a:r>
          </a:p>
        </p:txBody>
      </p:sp>
      <p:pic>
        <p:nvPicPr>
          <p:cNvPr id="14" name="Picture 2" descr="Resultado de imagem para Furb">
            <a:extLst>
              <a:ext uri="{FF2B5EF4-FFF2-40B4-BE49-F238E27FC236}">
                <a16:creationId xmlns:a16="http://schemas.microsoft.com/office/drawing/2014/main" id="{F8F6160E-F97D-279F-99C6-F0DA6101424E}"/>
              </a:ext>
            </a:extLst>
          </p:cNvPr>
          <p:cNvPicPr/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2756"/>
          <a:stretch>
            <a:fillRect/>
          </a:stretch>
        </p:blipFill>
        <p:spPr bwMode="auto">
          <a:xfrm>
            <a:off x="11011929" y="121955"/>
            <a:ext cx="969117" cy="5768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329009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63D5E-5AEC-6A37-0310-5A0B8D62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>
            <a:extLst>
              <a:ext uri="{FF2B5EF4-FFF2-40B4-BE49-F238E27FC236}">
                <a16:creationId xmlns:a16="http://schemas.microsoft.com/office/drawing/2014/main" id="{BE98FB97-1EFD-9E0C-4DE8-EA339E0359B6}"/>
              </a:ext>
            </a:extLst>
          </p:cNvPr>
          <p:cNvSpPr/>
          <p:nvPr/>
        </p:nvSpPr>
        <p:spPr>
          <a:xfrm>
            <a:off x="-1" y="-498379"/>
            <a:ext cx="12192001" cy="735637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9988560-34B9-78D3-7A09-FCBC653F7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20" y="221357"/>
            <a:ext cx="7854387" cy="1325563"/>
          </a:xfrm>
        </p:spPr>
        <p:txBody>
          <a:bodyPr>
            <a:noAutofit/>
          </a:bodyPr>
          <a:lstStyle/>
          <a:p>
            <a:r>
              <a:rPr lang="pt-BR" sz="4600" b="1" kern="0" dirty="0">
                <a:solidFill>
                  <a:srgbClr val="0B76A0"/>
                </a:solidFill>
                <a:effectLst/>
                <a:latin typeface="Acumin Pro"/>
                <a:ea typeface="Times New Roman" panose="02020603050405020304" pitchFamily="18" charset="0"/>
              </a:rPr>
              <a:t>Linhas do Tempo: </a:t>
            </a:r>
            <a:br>
              <a:rPr lang="pt-BR" sz="4600" b="1" kern="0" dirty="0">
                <a:solidFill>
                  <a:srgbClr val="0B76A0"/>
                </a:solidFill>
                <a:effectLst/>
                <a:latin typeface="Acumin Pro" panose="020B0504020202020204" pitchFamily="34" charset="0"/>
                <a:ea typeface="Times New Roman" panose="02020603050405020304" pitchFamily="18" charset="0"/>
              </a:rPr>
            </a:br>
            <a:r>
              <a:rPr lang="pt-BR" sz="4600" b="1" kern="0" dirty="0">
                <a:solidFill>
                  <a:srgbClr val="0B76A0"/>
                </a:solidFill>
                <a:effectLst/>
                <a:latin typeface="Acumin Pro"/>
                <a:ea typeface="Times New Roman" panose="02020603050405020304" pitchFamily="18" charset="0"/>
              </a:rPr>
              <a:t>Cursos de Graduação </a:t>
            </a:r>
            <a:endParaRPr lang="en-US" sz="4600" dirty="0">
              <a:solidFill>
                <a:srgbClr val="0B76A0"/>
              </a:solidFill>
              <a:latin typeface="Acumin Pro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2F07D845-2BB8-9A61-B549-4A0C2A876774}"/>
              </a:ext>
            </a:extLst>
          </p:cNvPr>
          <p:cNvCxnSpPr>
            <a:cxnSpLocks/>
          </p:cNvCxnSpPr>
          <p:nvPr/>
        </p:nvCxnSpPr>
        <p:spPr>
          <a:xfrm>
            <a:off x="1471247" y="4174734"/>
            <a:ext cx="8587153" cy="1293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D1C9406-A9F0-DEE4-4104-687A95F0C504}"/>
              </a:ext>
            </a:extLst>
          </p:cNvPr>
          <p:cNvCxnSpPr>
            <a:cxnSpLocks/>
          </p:cNvCxnSpPr>
          <p:nvPr/>
        </p:nvCxnSpPr>
        <p:spPr>
          <a:xfrm flipV="1">
            <a:off x="1471247" y="3334224"/>
            <a:ext cx="0" cy="85344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22EC1A66-6F88-3209-CF44-44B1A443ADBD}"/>
              </a:ext>
            </a:extLst>
          </p:cNvPr>
          <p:cNvSpPr/>
          <p:nvPr/>
        </p:nvSpPr>
        <p:spPr>
          <a:xfrm>
            <a:off x="1356947" y="3109434"/>
            <a:ext cx="228600" cy="228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E34E8A-C498-2642-646A-8D78BC5E12B5}"/>
              </a:ext>
            </a:extLst>
          </p:cNvPr>
          <p:cNvSpPr txBox="1"/>
          <p:nvPr/>
        </p:nvSpPr>
        <p:spPr>
          <a:xfrm>
            <a:off x="212112" y="2260796"/>
            <a:ext cx="2518269" cy="76944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600" b="1" kern="0" dirty="0">
                <a:solidFill>
                  <a:srgbClr val="FAFAFA"/>
                </a:solidFill>
                <a:effectLst/>
                <a:latin typeface="Neue Haas Grotesk Text Pro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1975: </a:t>
            </a:r>
          </a:p>
          <a:p>
            <a:pPr algn="ctr"/>
            <a:r>
              <a:rPr lang="pt-BR" sz="1400" kern="0" dirty="0">
                <a:solidFill>
                  <a:srgbClr val="FAFAFA"/>
                </a:solidFill>
                <a:effectLst/>
                <a:latin typeface="Neue Haas Grotesk Text Pro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Curso de Tecnólogo em </a:t>
            </a:r>
          </a:p>
          <a:p>
            <a:pPr algn="ctr"/>
            <a:r>
              <a:rPr lang="pt-BR" sz="1400" kern="0" dirty="0">
                <a:solidFill>
                  <a:srgbClr val="FAFAFA"/>
                </a:solidFill>
                <a:effectLst/>
                <a:latin typeface="Neue Haas Grotesk Text Pro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Processamento de Dados</a:t>
            </a:r>
            <a:endParaRPr lang="en-US" sz="1400" kern="100" dirty="0">
              <a:solidFill>
                <a:srgbClr val="FAFAFA"/>
              </a:solidFill>
              <a:effectLst/>
              <a:latin typeface="Neue Haas Grotesk Text Pro" panose="020B05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9AEACE3-7A0B-963B-1D54-836B3A2F365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16834" y="4192947"/>
            <a:ext cx="0" cy="85344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435112BB-004F-6697-8433-4DADAC22CCBC}"/>
              </a:ext>
            </a:extLst>
          </p:cNvPr>
          <p:cNvSpPr/>
          <p:nvPr/>
        </p:nvSpPr>
        <p:spPr>
          <a:xfrm rot="10800000">
            <a:off x="3712471" y="5011483"/>
            <a:ext cx="228600" cy="228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C0F4293-70AC-478B-C5B5-FC865B436B36}"/>
              </a:ext>
            </a:extLst>
          </p:cNvPr>
          <p:cNvSpPr txBox="1"/>
          <p:nvPr/>
        </p:nvSpPr>
        <p:spPr>
          <a:xfrm>
            <a:off x="2402541" y="5381512"/>
            <a:ext cx="2848458" cy="76944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600" b="1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1988: </a:t>
            </a:r>
            <a:br>
              <a:rPr lang="pt-BR" sz="1600" b="1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</a:br>
            <a:r>
              <a:rPr lang="pt-BR" sz="1400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Bacharelado em Ciência </a:t>
            </a:r>
          </a:p>
          <a:p>
            <a:pPr algn="ctr"/>
            <a:r>
              <a:rPr lang="pt-BR" sz="1400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da Computação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698A970C-DFA0-C802-42BF-B2732F9F4355}"/>
              </a:ext>
            </a:extLst>
          </p:cNvPr>
          <p:cNvCxnSpPr>
            <a:cxnSpLocks/>
          </p:cNvCxnSpPr>
          <p:nvPr/>
        </p:nvCxnSpPr>
        <p:spPr>
          <a:xfrm flipV="1">
            <a:off x="6145185" y="3295813"/>
            <a:ext cx="0" cy="85344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ipse 27">
            <a:extLst>
              <a:ext uri="{FF2B5EF4-FFF2-40B4-BE49-F238E27FC236}">
                <a16:creationId xmlns:a16="http://schemas.microsoft.com/office/drawing/2014/main" id="{062002E2-11A1-F5F1-E1F1-6F8E72120948}"/>
              </a:ext>
            </a:extLst>
          </p:cNvPr>
          <p:cNvSpPr/>
          <p:nvPr/>
        </p:nvSpPr>
        <p:spPr>
          <a:xfrm>
            <a:off x="6030885" y="3071023"/>
            <a:ext cx="228600" cy="228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F39CD27-6269-1948-BDDD-CCECCEB6F354}"/>
              </a:ext>
            </a:extLst>
          </p:cNvPr>
          <p:cNvSpPr txBox="1"/>
          <p:nvPr/>
        </p:nvSpPr>
        <p:spPr>
          <a:xfrm>
            <a:off x="5009212" y="2240328"/>
            <a:ext cx="2271945" cy="76944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600" b="1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2001: </a:t>
            </a:r>
          </a:p>
          <a:p>
            <a:pPr algn="ctr"/>
            <a:r>
              <a:rPr lang="pt-BR" sz="1400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Bacharelado em </a:t>
            </a:r>
          </a:p>
          <a:p>
            <a:pPr algn="ctr"/>
            <a:r>
              <a:rPr lang="pt-BR" sz="1400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Sistemas de Informação</a:t>
            </a:r>
            <a:endParaRPr lang="en-US" sz="1400" kern="0" dirty="0">
              <a:solidFill>
                <a:srgbClr val="FAFAFA"/>
              </a:solidFill>
              <a:latin typeface="Neue Haas Grotesk Text Pro" panose="020B05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3A82D56-0C77-CEE7-3B86-D469A58FE3D8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78606" y="4190776"/>
            <a:ext cx="0" cy="853440"/>
          </a:xfrm>
          <a:prstGeom prst="line">
            <a:avLst/>
          </a:prstGeom>
          <a:ln w="3810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Elipse 30">
            <a:extLst>
              <a:ext uri="{FF2B5EF4-FFF2-40B4-BE49-F238E27FC236}">
                <a16:creationId xmlns:a16="http://schemas.microsoft.com/office/drawing/2014/main" id="{EAD8D50E-0872-7D20-B241-91C0E3516170}"/>
              </a:ext>
            </a:extLst>
          </p:cNvPr>
          <p:cNvSpPr/>
          <p:nvPr/>
        </p:nvSpPr>
        <p:spPr>
          <a:xfrm rot="10800000">
            <a:off x="8284183" y="5009312"/>
            <a:ext cx="228600" cy="228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B0B4806-5E1A-51CE-2F02-8C3BCDB7EA74}"/>
              </a:ext>
            </a:extLst>
          </p:cNvPr>
          <p:cNvSpPr txBox="1"/>
          <p:nvPr/>
        </p:nvSpPr>
        <p:spPr>
          <a:xfrm>
            <a:off x="10223197" y="3697680"/>
            <a:ext cx="1804006" cy="95410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 rtlCol="0">
            <a:spAutoFit/>
          </a:bodyPr>
          <a:lstStyle/>
          <a:p>
            <a:pPr lvl="0" algn="ctr">
              <a:buSzPts val="1000"/>
              <a:tabLst>
                <a:tab pos="457200" algn="l"/>
              </a:tabLst>
            </a:pPr>
            <a:r>
              <a:rPr lang="pt-BR" sz="1400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Formação de mais de 2.000 </a:t>
            </a:r>
          </a:p>
          <a:p>
            <a:pPr lvl="0" algn="ctr">
              <a:buSzPts val="1000"/>
              <a:tabLst>
                <a:tab pos="457200" algn="l"/>
              </a:tabLst>
            </a:pPr>
            <a:r>
              <a:rPr lang="pt-BR" sz="1400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profissionais até hoje</a:t>
            </a:r>
            <a:endParaRPr lang="en-US" sz="1400" kern="0" dirty="0">
              <a:solidFill>
                <a:srgbClr val="FAFAFA"/>
              </a:solidFill>
              <a:latin typeface="Neue Haas Grotesk Text Pro" panose="020B05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3" name="Gráfico 32">
            <a:extLst>
              <a:ext uri="{FF2B5EF4-FFF2-40B4-BE49-F238E27FC236}">
                <a16:creationId xmlns:a16="http://schemas.microsoft.com/office/drawing/2014/main" id="{53669E9E-AA26-B194-1DB3-E5F731028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1833" r="56362"/>
          <a:stretch>
            <a:fillRect/>
          </a:stretch>
        </p:blipFill>
        <p:spPr>
          <a:xfrm>
            <a:off x="8722799" y="-503662"/>
            <a:ext cx="3469202" cy="314917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5BDC16BA-28CA-E984-1AD9-BA7058FEC460}"/>
              </a:ext>
            </a:extLst>
          </p:cNvPr>
          <p:cNvSpPr txBox="1"/>
          <p:nvPr/>
        </p:nvSpPr>
        <p:spPr>
          <a:xfrm>
            <a:off x="6925426" y="5381512"/>
            <a:ext cx="2848458" cy="76944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600" b="1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2026: </a:t>
            </a:r>
            <a:br>
              <a:rPr lang="pt-BR" sz="1600" b="1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</a:br>
            <a:r>
              <a:rPr lang="pt-BR" sz="1400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Bacharelado em Ciência </a:t>
            </a:r>
          </a:p>
          <a:p>
            <a:pPr algn="ctr"/>
            <a:r>
              <a:rPr lang="pt-BR" sz="1400" kern="0" dirty="0">
                <a:solidFill>
                  <a:srgbClr val="FAFAFA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de Dados</a:t>
            </a:r>
          </a:p>
        </p:txBody>
      </p:sp>
      <p:pic>
        <p:nvPicPr>
          <p:cNvPr id="3" name="Imagem 2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26A6BB3F-104B-C644-F209-06D76E9A7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22"/>
          <a:stretch>
            <a:fillRect/>
          </a:stretch>
        </p:blipFill>
        <p:spPr>
          <a:xfrm>
            <a:off x="9565788" y="5062775"/>
            <a:ext cx="1314817" cy="1657438"/>
          </a:xfrm>
          <a:prstGeom prst="rect">
            <a:avLst/>
          </a:prstGeom>
          <a:ln>
            <a:solidFill>
              <a:srgbClr val="FAFA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1875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EEBC7-5F1F-ADAB-B907-C3FC39CB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D2C3707-BDA7-34A7-59B5-028ADCC419F7}"/>
              </a:ext>
            </a:extLst>
          </p:cNvPr>
          <p:cNvSpPr/>
          <p:nvPr/>
        </p:nvSpPr>
        <p:spPr>
          <a:xfrm>
            <a:off x="-1" y="9105"/>
            <a:ext cx="12192001" cy="708311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51C90AF-5FC3-DD03-05ED-AA32FE59650B}"/>
              </a:ext>
            </a:extLst>
          </p:cNvPr>
          <p:cNvSpPr/>
          <p:nvPr/>
        </p:nvSpPr>
        <p:spPr>
          <a:xfrm>
            <a:off x="2197569" y="3501729"/>
            <a:ext cx="6243811" cy="3238158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 w="571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" name="Retângulo: Cantos Arredondados 6">
            <a:extLst>
              <a:ext uri="{FF2B5EF4-FFF2-40B4-BE49-F238E27FC236}">
                <a16:creationId xmlns:a16="http://schemas.microsoft.com/office/drawing/2014/main" id="{9C9F5631-7BE6-8CCE-226F-101398175D09}"/>
              </a:ext>
            </a:extLst>
          </p:cNvPr>
          <p:cNvSpPr/>
          <p:nvPr/>
        </p:nvSpPr>
        <p:spPr>
          <a:xfrm>
            <a:off x="5819561" y="1547819"/>
            <a:ext cx="5744884" cy="3457317"/>
          </a:xfrm>
          <a:prstGeom prst="ellipse">
            <a:avLst/>
          </a:prstGeom>
          <a:solidFill>
            <a:srgbClr val="FFC000">
              <a:alpha val="50000"/>
            </a:srgbClr>
          </a:solidFill>
          <a:ln w="57150">
            <a:solidFill>
              <a:schemeClr val="accent2">
                <a:lumMod val="7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E1AA8A-5F50-FA79-590B-587ED7569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56" y="9105"/>
            <a:ext cx="11539959" cy="972406"/>
          </a:xfrm>
          <a:noFill/>
        </p:spPr>
        <p:txBody>
          <a:bodyPr>
            <a:normAutofit/>
          </a:bodyPr>
          <a:lstStyle/>
          <a:p>
            <a:pPr algn="ctr"/>
            <a:r>
              <a:rPr lang="pt-BR" sz="4600" b="1" kern="0" dirty="0">
                <a:solidFill>
                  <a:srgbClr val="0B76A0"/>
                </a:solidFill>
                <a:latin typeface="Acumin Pro"/>
              </a:rPr>
              <a:t>[ Diferença entre os cursos? ]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0A1D4A4-5777-4ED0-819E-D45F5ABC82C8}"/>
              </a:ext>
            </a:extLst>
          </p:cNvPr>
          <p:cNvSpPr/>
          <p:nvPr/>
        </p:nvSpPr>
        <p:spPr>
          <a:xfrm>
            <a:off x="1045065" y="1106104"/>
            <a:ext cx="6030410" cy="3096928"/>
          </a:xfrm>
          <a:prstGeom prst="ellipse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 w="57150">
            <a:solidFill>
              <a:schemeClr val="tx2">
                <a:lumMod val="75000"/>
                <a:lumOff val="2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pt-BR" sz="3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F25CE54-28A5-4BDF-0118-6BFC60D577EA}"/>
              </a:ext>
            </a:extLst>
          </p:cNvPr>
          <p:cNvSpPr txBox="1"/>
          <p:nvPr/>
        </p:nvSpPr>
        <p:spPr>
          <a:xfrm>
            <a:off x="3209803" y="5529468"/>
            <a:ext cx="4154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rgbClr val="459329"/>
                </a:solidFill>
              </a:rPr>
              <a:t>Desenvolvimento de tecnologias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CD10496-9932-7DD6-DC0C-7A42DAF92D42}"/>
              </a:ext>
            </a:extLst>
          </p:cNvPr>
          <p:cNvSpPr txBox="1"/>
          <p:nvPr/>
        </p:nvSpPr>
        <p:spPr>
          <a:xfrm>
            <a:off x="1121624" y="1371572"/>
            <a:ext cx="5625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SISTEMAS DE INFORMAÇÃO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D92F013-F301-EF83-DBA8-AEAF05002317}"/>
              </a:ext>
            </a:extLst>
          </p:cNvPr>
          <p:cNvSpPr txBox="1"/>
          <p:nvPr/>
        </p:nvSpPr>
        <p:spPr>
          <a:xfrm>
            <a:off x="1962246" y="2637180"/>
            <a:ext cx="33449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Integrar tecnologias e negócios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DA953D-ACFF-1E8B-DA41-7261BCB129C4}"/>
              </a:ext>
            </a:extLst>
          </p:cNvPr>
          <p:cNvSpPr txBox="1"/>
          <p:nvPr/>
        </p:nvSpPr>
        <p:spPr>
          <a:xfrm>
            <a:off x="6372441" y="3059121"/>
            <a:ext cx="5705644" cy="1341656"/>
          </a:xfrm>
          <a:prstGeom prst="ellipse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accent2">
                    <a:lumMod val="75000"/>
                    <a:alpha val="50000"/>
                  </a:schemeClr>
                </a:solidFill>
              </a:rPr>
              <a:t>Transformação de dados em conhecimento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05EB862-545D-B433-6710-F891668A17E3}"/>
              </a:ext>
            </a:extLst>
          </p:cNvPr>
          <p:cNvSpPr txBox="1"/>
          <p:nvPr/>
        </p:nvSpPr>
        <p:spPr>
          <a:xfrm>
            <a:off x="6192540" y="1703837"/>
            <a:ext cx="5473386" cy="1687890"/>
          </a:xfrm>
          <a:prstGeom prst="ellipse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accent2">
                    <a:lumMod val="75000"/>
                  </a:schemeClr>
                </a:solidFill>
              </a:rPr>
              <a:t>CIÊNCIA DE DADOS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E604507-11E4-BD25-3CE6-CCDC2F2DA57C}"/>
              </a:ext>
            </a:extLst>
          </p:cNvPr>
          <p:cNvSpPr txBox="1"/>
          <p:nvPr/>
        </p:nvSpPr>
        <p:spPr>
          <a:xfrm>
            <a:off x="2313775" y="4837070"/>
            <a:ext cx="5882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accent6">
                    <a:lumMod val="75000"/>
                  </a:schemeClr>
                </a:solidFill>
              </a:rPr>
              <a:t>CIÊNCIA DA COMPUTAÇÃO</a:t>
            </a:r>
          </a:p>
        </p:txBody>
      </p:sp>
    </p:spTree>
    <p:extLst>
      <p:ext uri="{BB962C8B-B14F-4D97-AF65-F5344CB8AC3E}">
        <p14:creationId xmlns:p14="http://schemas.microsoft.com/office/powerpoint/2010/main" val="2279428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59D91-8D71-C2BB-5F11-1AF02695C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56">
            <a:extLst>
              <a:ext uri="{FF2B5EF4-FFF2-40B4-BE49-F238E27FC236}">
                <a16:creationId xmlns:a16="http://schemas.microsoft.com/office/drawing/2014/main" id="{B049C73E-2C1E-A8BA-05D9-2ADE7CFDC40B}"/>
              </a:ext>
            </a:extLst>
          </p:cNvPr>
          <p:cNvSpPr/>
          <p:nvPr/>
        </p:nvSpPr>
        <p:spPr>
          <a:xfrm>
            <a:off x="-1" y="-498379"/>
            <a:ext cx="12192001" cy="759059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7E5EACCA-1D10-60B1-32AD-FD0289579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040" y="199652"/>
            <a:ext cx="1996918" cy="1903875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066E10C1-6DDF-FCE3-F0F4-4B4E1D77A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823" y="4669191"/>
            <a:ext cx="2116850" cy="1916184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92502A78-858B-CF2B-2ED6-656CF87C1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239" y="4705285"/>
            <a:ext cx="2048002" cy="1893170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76116027-EBDC-EF3B-48D9-7BA7D63ABF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900" r="10699"/>
          <a:stretch>
            <a:fillRect/>
          </a:stretch>
        </p:blipFill>
        <p:spPr>
          <a:xfrm>
            <a:off x="9750953" y="2448815"/>
            <a:ext cx="2133721" cy="188009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7E0CDD08-8779-3A88-96CE-3F4C0F6A8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9500" y="2469702"/>
            <a:ext cx="1932288" cy="1922724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17776A22-E6D5-625F-B0F2-5DB6060C6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1878" y="4675730"/>
            <a:ext cx="2045486" cy="1893169"/>
          </a:xfrm>
          <a:prstGeom prst="rect">
            <a:avLst/>
          </a:prstGeom>
        </p:spPr>
      </p:pic>
      <p:pic>
        <p:nvPicPr>
          <p:cNvPr id="7" name="Imagem 6" descr="Uma imagem contendo deitado, mesa, gato, homem&#10;&#10;O conteúdo gerado por IA pode estar incorreto.">
            <a:extLst>
              <a:ext uri="{FF2B5EF4-FFF2-40B4-BE49-F238E27FC236}">
                <a16:creationId xmlns:a16="http://schemas.microsoft.com/office/drawing/2014/main" id="{9F51EE50-6B85-3867-C878-4FBAB70418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44" b="13794"/>
          <a:stretch/>
        </p:blipFill>
        <p:spPr>
          <a:xfrm>
            <a:off x="5733385" y="2442275"/>
            <a:ext cx="2004573" cy="18931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229E1A6-A145-449F-39DB-2EC3911A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26" y="534810"/>
            <a:ext cx="8823404" cy="1030087"/>
          </a:xfr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pPr>
              <a:spcBef>
                <a:spcPts val="0"/>
              </a:spcBef>
              <a:buSzPts val="2000"/>
            </a:pPr>
            <a:r>
              <a:rPr lang="pt-BR" sz="5400" b="1" kern="0" dirty="0">
                <a:solidFill>
                  <a:srgbClr val="0B76A0"/>
                </a:solidFill>
                <a:latin typeface="Acumin Pro"/>
              </a:rPr>
              <a:t>[ Nós somos ]</a:t>
            </a:r>
            <a:endParaRPr lang="en-US" sz="5400" b="1" kern="0" dirty="0">
              <a:solidFill>
                <a:srgbClr val="0B76A0"/>
              </a:solidFill>
              <a:latin typeface="Acumin Pro"/>
            </a:endParaRPr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BC38508E-4500-AA22-D25A-80AEEC5D4FC1}"/>
              </a:ext>
            </a:extLst>
          </p:cNvPr>
          <p:cNvSpPr/>
          <p:nvPr/>
        </p:nvSpPr>
        <p:spPr>
          <a:xfrm>
            <a:off x="307326" y="2448815"/>
            <a:ext cx="1627473" cy="1916184"/>
          </a:xfrm>
          <a:custGeom>
            <a:avLst/>
            <a:gdLst>
              <a:gd name="connsiteX0" fmla="*/ 1916184 w 2224474"/>
              <a:gd name="connsiteY0" fmla="*/ 141523 h 1916184"/>
              <a:gd name="connsiteX1" fmla="*/ 1916184 w 2224474"/>
              <a:gd name="connsiteY1" fmla="*/ 0 h 1916184"/>
              <a:gd name="connsiteX2" fmla="*/ 0 w 2224474"/>
              <a:gd name="connsiteY2" fmla="*/ 0 h 1916184"/>
              <a:gd name="connsiteX3" fmla="*/ 0 w 2224474"/>
              <a:gd name="connsiteY3" fmla="*/ 1916184 h 1916184"/>
              <a:gd name="connsiteX4" fmla="*/ 1916184 w 2224474"/>
              <a:gd name="connsiteY4" fmla="*/ 1916184 h 1916184"/>
              <a:gd name="connsiteX5" fmla="*/ 1916184 w 2224474"/>
              <a:gd name="connsiteY5" fmla="*/ 758103 h 1916184"/>
              <a:gd name="connsiteX6" fmla="*/ 2224474 w 2224474"/>
              <a:gd name="connsiteY6" fmla="*/ 449813 h 1916184"/>
              <a:gd name="connsiteX7" fmla="*/ 1916184 w 2224474"/>
              <a:gd name="connsiteY7" fmla="*/ 141523 h 191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4474" h="1916184">
                <a:moveTo>
                  <a:pt x="1916184" y="141523"/>
                </a:moveTo>
                <a:lnTo>
                  <a:pt x="1916184" y="0"/>
                </a:lnTo>
                <a:lnTo>
                  <a:pt x="0" y="0"/>
                </a:lnTo>
                <a:lnTo>
                  <a:pt x="0" y="1916184"/>
                </a:lnTo>
                <a:lnTo>
                  <a:pt x="1916184" y="1916184"/>
                </a:lnTo>
                <a:lnTo>
                  <a:pt x="1916184" y="758103"/>
                </a:lnTo>
                <a:lnTo>
                  <a:pt x="2224474" y="449813"/>
                </a:lnTo>
                <a:lnTo>
                  <a:pt x="1916184" y="14152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130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CC5CEC-B77D-C4F3-5208-93EED1D7FC9A}"/>
              </a:ext>
            </a:extLst>
          </p:cNvPr>
          <p:cNvSpPr txBox="1"/>
          <p:nvPr/>
        </p:nvSpPr>
        <p:spPr>
          <a:xfrm>
            <a:off x="343344" y="2723178"/>
            <a:ext cx="1423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kern="0" dirty="0">
                <a:solidFill>
                  <a:schemeClr val="bg1"/>
                </a:solidFill>
                <a:effectLst/>
                <a:latin typeface="Neue Haas Grotesk Text Pro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Realidade virtual</a:t>
            </a:r>
            <a:endParaRPr lang="en-US" sz="2000" kern="100" dirty="0">
              <a:solidFill>
                <a:schemeClr val="bg1"/>
              </a:solidFill>
              <a:effectLst/>
              <a:latin typeface="Neue Haas Grotesk Text Pro" panose="020B05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B8D1766D-29BA-1F6C-9B3D-9F459B58DC9B}"/>
              </a:ext>
            </a:extLst>
          </p:cNvPr>
          <p:cNvSpPr/>
          <p:nvPr/>
        </p:nvSpPr>
        <p:spPr>
          <a:xfrm>
            <a:off x="4164156" y="2412721"/>
            <a:ext cx="1688630" cy="1916184"/>
          </a:xfrm>
          <a:custGeom>
            <a:avLst/>
            <a:gdLst>
              <a:gd name="connsiteX0" fmla="*/ 1916184 w 2224474"/>
              <a:gd name="connsiteY0" fmla="*/ 141523 h 1916184"/>
              <a:gd name="connsiteX1" fmla="*/ 1916184 w 2224474"/>
              <a:gd name="connsiteY1" fmla="*/ 0 h 1916184"/>
              <a:gd name="connsiteX2" fmla="*/ 0 w 2224474"/>
              <a:gd name="connsiteY2" fmla="*/ 0 h 1916184"/>
              <a:gd name="connsiteX3" fmla="*/ 0 w 2224474"/>
              <a:gd name="connsiteY3" fmla="*/ 1916184 h 1916184"/>
              <a:gd name="connsiteX4" fmla="*/ 1916184 w 2224474"/>
              <a:gd name="connsiteY4" fmla="*/ 1916184 h 1916184"/>
              <a:gd name="connsiteX5" fmla="*/ 1916184 w 2224474"/>
              <a:gd name="connsiteY5" fmla="*/ 758103 h 1916184"/>
              <a:gd name="connsiteX6" fmla="*/ 2224474 w 2224474"/>
              <a:gd name="connsiteY6" fmla="*/ 449813 h 1916184"/>
              <a:gd name="connsiteX7" fmla="*/ 1916184 w 2224474"/>
              <a:gd name="connsiteY7" fmla="*/ 141523 h 191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4474" h="1916184">
                <a:moveTo>
                  <a:pt x="1916184" y="141523"/>
                </a:moveTo>
                <a:lnTo>
                  <a:pt x="1916184" y="0"/>
                </a:lnTo>
                <a:lnTo>
                  <a:pt x="0" y="0"/>
                </a:lnTo>
                <a:lnTo>
                  <a:pt x="0" y="1916184"/>
                </a:lnTo>
                <a:lnTo>
                  <a:pt x="1916184" y="1916184"/>
                </a:lnTo>
                <a:lnTo>
                  <a:pt x="1916184" y="758103"/>
                </a:lnTo>
                <a:lnTo>
                  <a:pt x="2224474" y="449813"/>
                </a:lnTo>
                <a:lnTo>
                  <a:pt x="1916184" y="141523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130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E4F68A2-E6A6-0C2F-C7C6-2F74FAF4EFCE}"/>
              </a:ext>
            </a:extLst>
          </p:cNvPr>
          <p:cNvSpPr txBox="1"/>
          <p:nvPr/>
        </p:nvSpPr>
        <p:spPr>
          <a:xfrm>
            <a:off x="4044755" y="2676114"/>
            <a:ext cx="1688630" cy="40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pt-BR" sz="2000" kern="0" dirty="0">
                <a:solidFill>
                  <a:schemeClr val="bg1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Games</a:t>
            </a:r>
            <a:endParaRPr lang="en-US" sz="2000" dirty="0">
              <a:solidFill>
                <a:schemeClr val="bg1"/>
              </a:solidFill>
              <a:latin typeface="Neue Haas Grotesk Text Pro" panose="020B0504020202020204" pitchFamily="34" charset="0"/>
            </a:endParaRP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C35854CB-5839-0430-C4C6-835256FFFF3A}"/>
              </a:ext>
            </a:extLst>
          </p:cNvPr>
          <p:cNvSpPr/>
          <p:nvPr/>
        </p:nvSpPr>
        <p:spPr>
          <a:xfrm>
            <a:off x="8155311" y="2419261"/>
            <a:ext cx="1688630" cy="1916184"/>
          </a:xfrm>
          <a:custGeom>
            <a:avLst/>
            <a:gdLst>
              <a:gd name="connsiteX0" fmla="*/ 1916184 w 2224474"/>
              <a:gd name="connsiteY0" fmla="*/ 141523 h 1916184"/>
              <a:gd name="connsiteX1" fmla="*/ 1916184 w 2224474"/>
              <a:gd name="connsiteY1" fmla="*/ 0 h 1916184"/>
              <a:gd name="connsiteX2" fmla="*/ 0 w 2224474"/>
              <a:gd name="connsiteY2" fmla="*/ 0 h 1916184"/>
              <a:gd name="connsiteX3" fmla="*/ 0 w 2224474"/>
              <a:gd name="connsiteY3" fmla="*/ 1916184 h 1916184"/>
              <a:gd name="connsiteX4" fmla="*/ 1916184 w 2224474"/>
              <a:gd name="connsiteY4" fmla="*/ 1916184 h 1916184"/>
              <a:gd name="connsiteX5" fmla="*/ 1916184 w 2224474"/>
              <a:gd name="connsiteY5" fmla="*/ 758103 h 1916184"/>
              <a:gd name="connsiteX6" fmla="*/ 2224474 w 2224474"/>
              <a:gd name="connsiteY6" fmla="*/ 449813 h 1916184"/>
              <a:gd name="connsiteX7" fmla="*/ 1916184 w 2224474"/>
              <a:gd name="connsiteY7" fmla="*/ 141523 h 191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4474" h="1916184">
                <a:moveTo>
                  <a:pt x="1916184" y="141523"/>
                </a:moveTo>
                <a:lnTo>
                  <a:pt x="1916184" y="0"/>
                </a:lnTo>
                <a:lnTo>
                  <a:pt x="0" y="0"/>
                </a:lnTo>
                <a:lnTo>
                  <a:pt x="0" y="1916184"/>
                </a:lnTo>
                <a:lnTo>
                  <a:pt x="1916184" y="1916184"/>
                </a:lnTo>
                <a:lnTo>
                  <a:pt x="1916184" y="758103"/>
                </a:lnTo>
                <a:lnTo>
                  <a:pt x="2224474" y="449813"/>
                </a:lnTo>
                <a:lnTo>
                  <a:pt x="1916184" y="141523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 w="130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F62C4A4-7E5D-75E0-1171-C0DD81D6F96F}"/>
              </a:ext>
            </a:extLst>
          </p:cNvPr>
          <p:cNvSpPr txBox="1"/>
          <p:nvPr/>
        </p:nvSpPr>
        <p:spPr>
          <a:xfrm>
            <a:off x="8266474" y="2711957"/>
            <a:ext cx="1688630" cy="73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pt-BR" sz="2000" kern="0" dirty="0">
                <a:solidFill>
                  <a:schemeClr val="accent5">
                    <a:lumMod val="75000"/>
                  </a:schemeClr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Meninas digitais</a:t>
            </a:r>
            <a:endParaRPr lang="en-US" sz="2000" dirty="0">
              <a:solidFill>
                <a:schemeClr val="accent5">
                  <a:lumMod val="75000"/>
                </a:schemeClr>
              </a:solidFill>
              <a:latin typeface="Neue Haas Grotesk Text Pro" panose="020B0504020202020204" pitchFamily="34" charset="0"/>
            </a:endParaRPr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33225120-0657-9EA4-59B6-68BE368B9AC0}"/>
              </a:ext>
            </a:extLst>
          </p:cNvPr>
          <p:cNvSpPr/>
          <p:nvPr/>
        </p:nvSpPr>
        <p:spPr>
          <a:xfrm>
            <a:off x="307327" y="4705285"/>
            <a:ext cx="1627473" cy="1916184"/>
          </a:xfrm>
          <a:custGeom>
            <a:avLst/>
            <a:gdLst>
              <a:gd name="connsiteX0" fmla="*/ 1916184 w 2224474"/>
              <a:gd name="connsiteY0" fmla="*/ 141523 h 1916184"/>
              <a:gd name="connsiteX1" fmla="*/ 1916184 w 2224474"/>
              <a:gd name="connsiteY1" fmla="*/ 0 h 1916184"/>
              <a:gd name="connsiteX2" fmla="*/ 0 w 2224474"/>
              <a:gd name="connsiteY2" fmla="*/ 0 h 1916184"/>
              <a:gd name="connsiteX3" fmla="*/ 0 w 2224474"/>
              <a:gd name="connsiteY3" fmla="*/ 1916184 h 1916184"/>
              <a:gd name="connsiteX4" fmla="*/ 1916184 w 2224474"/>
              <a:gd name="connsiteY4" fmla="*/ 1916184 h 1916184"/>
              <a:gd name="connsiteX5" fmla="*/ 1916184 w 2224474"/>
              <a:gd name="connsiteY5" fmla="*/ 758103 h 1916184"/>
              <a:gd name="connsiteX6" fmla="*/ 2224474 w 2224474"/>
              <a:gd name="connsiteY6" fmla="*/ 449813 h 1916184"/>
              <a:gd name="connsiteX7" fmla="*/ 1916184 w 2224474"/>
              <a:gd name="connsiteY7" fmla="*/ 141523 h 191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4474" h="1916184">
                <a:moveTo>
                  <a:pt x="1916184" y="141523"/>
                </a:moveTo>
                <a:lnTo>
                  <a:pt x="1916184" y="0"/>
                </a:lnTo>
                <a:lnTo>
                  <a:pt x="0" y="0"/>
                </a:lnTo>
                <a:lnTo>
                  <a:pt x="0" y="1916184"/>
                </a:lnTo>
                <a:lnTo>
                  <a:pt x="1916184" y="1916184"/>
                </a:lnTo>
                <a:lnTo>
                  <a:pt x="1916184" y="758103"/>
                </a:lnTo>
                <a:lnTo>
                  <a:pt x="2224474" y="449813"/>
                </a:lnTo>
                <a:lnTo>
                  <a:pt x="1916184" y="141523"/>
                </a:lnTo>
                <a:close/>
              </a:path>
            </a:pathLst>
          </a:custGeom>
          <a:solidFill>
            <a:srgbClr val="FFC000"/>
          </a:solidFill>
          <a:ln w="130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555810-DDF3-0B75-9A0C-918A74E51135}"/>
              </a:ext>
            </a:extLst>
          </p:cNvPr>
          <p:cNvSpPr txBox="1"/>
          <p:nvPr/>
        </p:nvSpPr>
        <p:spPr>
          <a:xfrm>
            <a:off x="307326" y="4977327"/>
            <a:ext cx="1627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kern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Neue Haas Grotesk Text Pro" panose="020B05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Inteligência artificial</a:t>
            </a:r>
            <a:endParaRPr lang="en-US" sz="2000" kern="1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Neue Haas Grotesk Text Pro" panose="020B05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C02AEDC1-A249-8F24-C825-9C01F2694FF1}"/>
              </a:ext>
            </a:extLst>
          </p:cNvPr>
          <p:cNvSpPr/>
          <p:nvPr/>
        </p:nvSpPr>
        <p:spPr>
          <a:xfrm>
            <a:off x="4195153" y="4669191"/>
            <a:ext cx="1688630" cy="1916184"/>
          </a:xfrm>
          <a:custGeom>
            <a:avLst/>
            <a:gdLst>
              <a:gd name="connsiteX0" fmla="*/ 1916184 w 2224474"/>
              <a:gd name="connsiteY0" fmla="*/ 141523 h 1916184"/>
              <a:gd name="connsiteX1" fmla="*/ 1916184 w 2224474"/>
              <a:gd name="connsiteY1" fmla="*/ 0 h 1916184"/>
              <a:gd name="connsiteX2" fmla="*/ 0 w 2224474"/>
              <a:gd name="connsiteY2" fmla="*/ 0 h 1916184"/>
              <a:gd name="connsiteX3" fmla="*/ 0 w 2224474"/>
              <a:gd name="connsiteY3" fmla="*/ 1916184 h 1916184"/>
              <a:gd name="connsiteX4" fmla="*/ 1916184 w 2224474"/>
              <a:gd name="connsiteY4" fmla="*/ 1916184 h 1916184"/>
              <a:gd name="connsiteX5" fmla="*/ 1916184 w 2224474"/>
              <a:gd name="connsiteY5" fmla="*/ 758103 h 1916184"/>
              <a:gd name="connsiteX6" fmla="*/ 2224474 w 2224474"/>
              <a:gd name="connsiteY6" fmla="*/ 449813 h 1916184"/>
              <a:gd name="connsiteX7" fmla="*/ 1916184 w 2224474"/>
              <a:gd name="connsiteY7" fmla="*/ 141523 h 191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4474" h="1916184">
                <a:moveTo>
                  <a:pt x="1916184" y="141523"/>
                </a:moveTo>
                <a:lnTo>
                  <a:pt x="1916184" y="0"/>
                </a:lnTo>
                <a:lnTo>
                  <a:pt x="0" y="0"/>
                </a:lnTo>
                <a:lnTo>
                  <a:pt x="0" y="1916184"/>
                </a:lnTo>
                <a:lnTo>
                  <a:pt x="1916184" y="1916184"/>
                </a:lnTo>
                <a:lnTo>
                  <a:pt x="1916184" y="758103"/>
                </a:lnTo>
                <a:lnTo>
                  <a:pt x="2224474" y="449813"/>
                </a:lnTo>
                <a:lnTo>
                  <a:pt x="1916184" y="141523"/>
                </a:lnTo>
                <a:close/>
              </a:path>
            </a:pathLst>
          </a:custGeom>
          <a:solidFill>
            <a:srgbClr val="0070C0"/>
          </a:solidFill>
          <a:ln w="130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F510AE3-C36C-066B-1486-AD0C9E2F37D8}"/>
              </a:ext>
            </a:extLst>
          </p:cNvPr>
          <p:cNvSpPr txBox="1"/>
          <p:nvPr/>
        </p:nvSpPr>
        <p:spPr>
          <a:xfrm>
            <a:off x="4073248" y="4922084"/>
            <a:ext cx="1688630" cy="40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pt-BR" sz="2000" kern="0" dirty="0">
                <a:solidFill>
                  <a:schemeClr val="bg1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Robótica</a:t>
            </a:r>
            <a:endParaRPr lang="en-US" sz="2000" dirty="0">
              <a:solidFill>
                <a:schemeClr val="bg1"/>
              </a:solidFill>
              <a:latin typeface="Neue Haas Grotesk Text Pro" panose="020B0504020202020204" pitchFamily="34" charset="0"/>
            </a:endParaRPr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C798D9A8-FCEE-5B6B-A1F9-3C28B98CC465}"/>
              </a:ext>
            </a:extLst>
          </p:cNvPr>
          <p:cNvSpPr/>
          <p:nvPr/>
        </p:nvSpPr>
        <p:spPr>
          <a:xfrm>
            <a:off x="8186308" y="4675731"/>
            <a:ext cx="1688630" cy="1916184"/>
          </a:xfrm>
          <a:custGeom>
            <a:avLst/>
            <a:gdLst>
              <a:gd name="connsiteX0" fmla="*/ 1916184 w 2224474"/>
              <a:gd name="connsiteY0" fmla="*/ 141523 h 1916184"/>
              <a:gd name="connsiteX1" fmla="*/ 1916184 w 2224474"/>
              <a:gd name="connsiteY1" fmla="*/ 0 h 1916184"/>
              <a:gd name="connsiteX2" fmla="*/ 0 w 2224474"/>
              <a:gd name="connsiteY2" fmla="*/ 0 h 1916184"/>
              <a:gd name="connsiteX3" fmla="*/ 0 w 2224474"/>
              <a:gd name="connsiteY3" fmla="*/ 1916184 h 1916184"/>
              <a:gd name="connsiteX4" fmla="*/ 1916184 w 2224474"/>
              <a:gd name="connsiteY4" fmla="*/ 1916184 h 1916184"/>
              <a:gd name="connsiteX5" fmla="*/ 1916184 w 2224474"/>
              <a:gd name="connsiteY5" fmla="*/ 758103 h 1916184"/>
              <a:gd name="connsiteX6" fmla="*/ 2224474 w 2224474"/>
              <a:gd name="connsiteY6" fmla="*/ 449813 h 1916184"/>
              <a:gd name="connsiteX7" fmla="*/ 1916184 w 2224474"/>
              <a:gd name="connsiteY7" fmla="*/ 141523 h 191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4474" h="1916184">
                <a:moveTo>
                  <a:pt x="1916184" y="141523"/>
                </a:moveTo>
                <a:lnTo>
                  <a:pt x="1916184" y="0"/>
                </a:lnTo>
                <a:lnTo>
                  <a:pt x="0" y="0"/>
                </a:lnTo>
                <a:lnTo>
                  <a:pt x="0" y="1916184"/>
                </a:lnTo>
                <a:lnTo>
                  <a:pt x="1916184" y="1916184"/>
                </a:lnTo>
                <a:lnTo>
                  <a:pt x="1916184" y="758103"/>
                </a:lnTo>
                <a:lnTo>
                  <a:pt x="2224474" y="449813"/>
                </a:lnTo>
                <a:lnTo>
                  <a:pt x="1916184" y="141523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30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F8278E5-4CE7-C5EC-8FAE-F42AA24966D4}"/>
              </a:ext>
            </a:extLst>
          </p:cNvPr>
          <p:cNvSpPr txBox="1"/>
          <p:nvPr/>
        </p:nvSpPr>
        <p:spPr>
          <a:xfrm>
            <a:off x="8079193" y="4977327"/>
            <a:ext cx="1688630" cy="40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pt-BR" sz="2000" kern="0" dirty="0">
                <a:solidFill>
                  <a:schemeClr val="bg1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Esportes</a:t>
            </a:r>
            <a:endParaRPr lang="en-US" sz="2000" dirty="0">
              <a:solidFill>
                <a:schemeClr val="bg1"/>
              </a:solidFill>
              <a:latin typeface="Neue Haas Grotesk Text Pro" panose="020B0504020202020204" pitchFamily="34" charset="0"/>
            </a:endParaRPr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CE170D12-D080-AA70-C5CD-780A60EC5F07}"/>
              </a:ext>
            </a:extLst>
          </p:cNvPr>
          <p:cNvSpPr/>
          <p:nvPr/>
        </p:nvSpPr>
        <p:spPr>
          <a:xfrm>
            <a:off x="4164156" y="163558"/>
            <a:ext cx="1688630" cy="1916184"/>
          </a:xfrm>
          <a:custGeom>
            <a:avLst/>
            <a:gdLst>
              <a:gd name="connsiteX0" fmla="*/ 1916184 w 2224474"/>
              <a:gd name="connsiteY0" fmla="*/ 141523 h 1916184"/>
              <a:gd name="connsiteX1" fmla="*/ 1916184 w 2224474"/>
              <a:gd name="connsiteY1" fmla="*/ 0 h 1916184"/>
              <a:gd name="connsiteX2" fmla="*/ 0 w 2224474"/>
              <a:gd name="connsiteY2" fmla="*/ 0 h 1916184"/>
              <a:gd name="connsiteX3" fmla="*/ 0 w 2224474"/>
              <a:gd name="connsiteY3" fmla="*/ 1916184 h 1916184"/>
              <a:gd name="connsiteX4" fmla="*/ 1916184 w 2224474"/>
              <a:gd name="connsiteY4" fmla="*/ 1916184 h 1916184"/>
              <a:gd name="connsiteX5" fmla="*/ 1916184 w 2224474"/>
              <a:gd name="connsiteY5" fmla="*/ 758103 h 1916184"/>
              <a:gd name="connsiteX6" fmla="*/ 2224474 w 2224474"/>
              <a:gd name="connsiteY6" fmla="*/ 449813 h 1916184"/>
              <a:gd name="connsiteX7" fmla="*/ 1916184 w 2224474"/>
              <a:gd name="connsiteY7" fmla="*/ 141523 h 191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4474" h="1916184">
                <a:moveTo>
                  <a:pt x="1916184" y="141523"/>
                </a:moveTo>
                <a:lnTo>
                  <a:pt x="1916184" y="0"/>
                </a:lnTo>
                <a:lnTo>
                  <a:pt x="0" y="0"/>
                </a:lnTo>
                <a:lnTo>
                  <a:pt x="0" y="1916184"/>
                </a:lnTo>
                <a:lnTo>
                  <a:pt x="1916184" y="1916184"/>
                </a:lnTo>
                <a:lnTo>
                  <a:pt x="1916184" y="758103"/>
                </a:lnTo>
                <a:lnTo>
                  <a:pt x="2224474" y="449813"/>
                </a:lnTo>
                <a:lnTo>
                  <a:pt x="1916184" y="141523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 w="130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7F04E5A0-C13B-4E10-E7C0-2D9717DF7450}"/>
              </a:ext>
            </a:extLst>
          </p:cNvPr>
          <p:cNvSpPr txBox="1"/>
          <p:nvPr/>
        </p:nvSpPr>
        <p:spPr>
          <a:xfrm>
            <a:off x="4044755" y="426951"/>
            <a:ext cx="1688630" cy="40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pt-BR" sz="2000" kern="0" dirty="0">
                <a:solidFill>
                  <a:schemeClr val="accent1">
                    <a:lumMod val="75000"/>
                  </a:schemeClr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Ensino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Neue Haas Grotesk Text Pro" panose="020B0504020202020204" pitchFamily="34" charset="0"/>
            </a:endParaRPr>
          </a:p>
        </p:txBody>
      </p:sp>
      <p:pic>
        <p:nvPicPr>
          <p:cNvPr id="56" name="Imagem 55">
            <a:extLst>
              <a:ext uri="{FF2B5EF4-FFF2-40B4-BE49-F238E27FC236}">
                <a16:creationId xmlns:a16="http://schemas.microsoft.com/office/drawing/2014/main" id="{1612E1CF-E680-250B-8561-86E655F92A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9616" y="174674"/>
            <a:ext cx="2175058" cy="1911655"/>
          </a:xfrm>
          <a:prstGeom prst="rect">
            <a:avLst/>
          </a:prstGeom>
        </p:spPr>
      </p:pic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BE33233D-66A9-AAA8-7720-B716D093406D}"/>
              </a:ext>
            </a:extLst>
          </p:cNvPr>
          <p:cNvSpPr/>
          <p:nvPr/>
        </p:nvSpPr>
        <p:spPr>
          <a:xfrm>
            <a:off x="8124315" y="170098"/>
            <a:ext cx="1688630" cy="1916184"/>
          </a:xfrm>
          <a:custGeom>
            <a:avLst/>
            <a:gdLst>
              <a:gd name="connsiteX0" fmla="*/ 1916184 w 2224474"/>
              <a:gd name="connsiteY0" fmla="*/ 141523 h 1916184"/>
              <a:gd name="connsiteX1" fmla="*/ 1916184 w 2224474"/>
              <a:gd name="connsiteY1" fmla="*/ 0 h 1916184"/>
              <a:gd name="connsiteX2" fmla="*/ 0 w 2224474"/>
              <a:gd name="connsiteY2" fmla="*/ 0 h 1916184"/>
              <a:gd name="connsiteX3" fmla="*/ 0 w 2224474"/>
              <a:gd name="connsiteY3" fmla="*/ 1916184 h 1916184"/>
              <a:gd name="connsiteX4" fmla="*/ 1916184 w 2224474"/>
              <a:gd name="connsiteY4" fmla="*/ 1916184 h 1916184"/>
              <a:gd name="connsiteX5" fmla="*/ 1916184 w 2224474"/>
              <a:gd name="connsiteY5" fmla="*/ 758103 h 1916184"/>
              <a:gd name="connsiteX6" fmla="*/ 2224474 w 2224474"/>
              <a:gd name="connsiteY6" fmla="*/ 449813 h 1916184"/>
              <a:gd name="connsiteX7" fmla="*/ 1916184 w 2224474"/>
              <a:gd name="connsiteY7" fmla="*/ 141523 h 191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24474" h="1916184">
                <a:moveTo>
                  <a:pt x="1916184" y="141523"/>
                </a:moveTo>
                <a:lnTo>
                  <a:pt x="1916184" y="0"/>
                </a:lnTo>
                <a:lnTo>
                  <a:pt x="0" y="0"/>
                </a:lnTo>
                <a:lnTo>
                  <a:pt x="0" y="1916184"/>
                </a:lnTo>
                <a:lnTo>
                  <a:pt x="1916184" y="1916184"/>
                </a:lnTo>
                <a:lnTo>
                  <a:pt x="1916184" y="758103"/>
                </a:lnTo>
                <a:lnTo>
                  <a:pt x="2224474" y="449813"/>
                </a:lnTo>
                <a:lnTo>
                  <a:pt x="1916184" y="141523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30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9364178A-3B76-ED84-7E88-8F800A8B9D9A}"/>
              </a:ext>
            </a:extLst>
          </p:cNvPr>
          <p:cNvSpPr txBox="1"/>
          <p:nvPr/>
        </p:nvSpPr>
        <p:spPr>
          <a:xfrm>
            <a:off x="8235478" y="462794"/>
            <a:ext cx="1688630" cy="401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  <a:buSzPts val="1000"/>
              <a:tabLst>
                <a:tab pos="457200" algn="l"/>
              </a:tabLst>
            </a:pPr>
            <a:r>
              <a:rPr lang="pt-BR" sz="2000" kern="0" dirty="0">
                <a:solidFill>
                  <a:schemeClr val="bg1"/>
                </a:solidFill>
                <a:latin typeface="Neue Haas Grotesk Text Pro" panose="020B0504020202020204" pitchFamily="34" charset="0"/>
                <a:cs typeface="Times New Roman" panose="02020603050405020304" pitchFamily="18" charset="0"/>
              </a:rPr>
              <a:t>&lt;Devs/&gt;</a:t>
            </a:r>
            <a:endParaRPr lang="en-US" sz="2000" dirty="0">
              <a:solidFill>
                <a:schemeClr val="bg1"/>
              </a:solidFill>
              <a:latin typeface="Neue Haas Grotesk Tex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93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8A0453F-7527-3BD1-29A5-64DE0E806D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119"/>
          <a:stretch>
            <a:fillRect/>
          </a:stretch>
        </p:blipFill>
        <p:spPr>
          <a:xfrm>
            <a:off x="20" y="1021"/>
            <a:ext cx="12191980" cy="6855958"/>
          </a:xfrm>
          <a:prstGeom prst="rect">
            <a:avLst/>
          </a:prstGeom>
        </p:spPr>
      </p:pic>
      <p:sp>
        <p:nvSpPr>
          <p:cNvPr id="17" name="Retângulo 6">
            <a:extLst>
              <a:ext uri="{FF2B5EF4-FFF2-40B4-BE49-F238E27FC236}">
                <a16:creationId xmlns:a16="http://schemas.microsoft.com/office/drawing/2014/main" id="{55FF1F98-D973-FFF1-7DE3-5C88BA5BE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18" y="2550745"/>
            <a:ext cx="4492454" cy="24190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712788" lvl="1" indent="-228600">
              <a:lnSpc>
                <a:spcPct val="90000"/>
              </a:lnSpc>
              <a:spcBef>
                <a:spcPct val="20000"/>
              </a:spcBef>
              <a:buClr>
                <a:srgbClr val="0B76A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14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Laboratórios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de Ensino</a:t>
            </a:r>
          </a:p>
          <a:p>
            <a:pPr marL="712788" lvl="1" indent="-228600">
              <a:lnSpc>
                <a:spcPct val="90000"/>
              </a:lnSpc>
              <a:spcBef>
                <a:spcPct val="20000"/>
              </a:spcBef>
              <a:buClr>
                <a:srgbClr val="0B76A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Laboratório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de Redes</a:t>
            </a:r>
          </a:p>
          <a:p>
            <a:pPr marL="712788" lvl="1" indent="-228600">
              <a:lnSpc>
                <a:spcPct val="90000"/>
              </a:lnSpc>
              <a:spcBef>
                <a:spcPct val="20000"/>
              </a:spcBef>
              <a:buClr>
                <a:srgbClr val="0B76A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Sistemas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embarcados</a:t>
            </a:r>
            <a:endParaRPr lang="en-US" sz="2000" dirty="0">
              <a:solidFill>
                <a:schemeClr val="tx1">
                  <a:lumMod val="85000"/>
                </a:schemeClr>
              </a:solidFill>
            </a:endParaRPr>
          </a:p>
          <a:p>
            <a:pPr marL="712788" lvl="1" indent="-228600">
              <a:lnSpc>
                <a:spcPct val="90000"/>
              </a:lnSpc>
              <a:spcBef>
                <a:spcPct val="20000"/>
              </a:spcBef>
              <a:buClr>
                <a:srgbClr val="0B76A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Laboratório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desenvolvimento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e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transferência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de </a:t>
            </a:r>
            <a:r>
              <a:rPr lang="en-US" sz="2000" dirty="0" err="1">
                <a:solidFill>
                  <a:schemeClr val="tx1">
                    <a:lumMod val="85000"/>
                  </a:schemeClr>
                </a:solidFill>
              </a:rPr>
              <a:t>tecnologia</a:t>
            </a:r>
            <a:r>
              <a:rPr lang="en-US" sz="2000" dirty="0">
                <a:solidFill>
                  <a:schemeClr val="tx1">
                    <a:lumMod val="85000"/>
                  </a:schemeClr>
                </a:solidFill>
              </a:rPr>
              <a:t> 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7977D39-626F-40D7-B00F-16E02602D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615" y="197110"/>
            <a:ext cx="2020824" cy="202082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IMG_20140908_143856516.jpg">
            <a:extLst>
              <a:ext uri="{FF2B5EF4-FFF2-40B4-BE49-F238E27FC236}">
                <a16:creationId xmlns:a16="http://schemas.microsoft.com/office/drawing/2014/main" id="{E10EF869-AFE3-8D1E-1496-EDED7EA8CC7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26392" r="17355" b="-5"/>
          <a:stretch>
            <a:fillRect/>
          </a:stretch>
        </p:blipFill>
        <p:spPr>
          <a:xfrm>
            <a:off x="5714207" y="361702"/>
            <a:ext cx="1691640" cy="1691640"/>
          </a:xfrm>
          <a:custGeom>
            <a:avLst/>
            <a:gdLst/>
            <a:ahLst/>
            <a:cxnLst/>
            <a:rect l="l" t="t" r="r" b="b"/>
            <a:pathLst>
              <a:path w="1956816" h="1956816">
                <a:moveTo>
                  <a:pt x="978408" y="0"/>
                </a:moveTo>
                <a:cubicBezTo>
                  <a:pt x="1518768" y="0"/>
                  <a:pt x="1956816" y="438048"/>
                  <a:pt x="1956816" y="978408"/>
                </a:cubicBezTo>
                <a:cubicBezTo>
                  <a:pt x="1956816" y="1518768"/>
                  <a:pt x="1518768" y="1956816"/>
                  <a:pt x="978408" y="1956816"/>
                </a:cubicBezTo>
                <a:cubicBezTo>
                  <a:pt x="438048" y="1956816"/>
                  <a:pt x="0" y="1518768"/>
                  <a:pt x="0" y="978408"/>
                </a:cubicBezTo>
                <a:cubicBezTo>
                  <a:pt x="0" y="438048"/>
                  <a:pt x="438048" y="0"/>
                  <a:pt x="978408" y="0"/>
                </a:cubicBezTo>
                <a:close/>
              </a:path>
            </a:pathLst>
          </a:custGeom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905CDE4-B751-4B3E-B625-6E59F8903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4932" y="1"/>
            <a:ext cx="4077068" cy="3445261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8108C16-F4C0-44AA-999D-17BD39219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1428" y="2550745"/>
            <a:ext cx="3072384" cy="30723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C55B814D-33F7-74B2-C1B7-D0CF586EFC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86" r="-2" b="-2"/>
          <a:stretch>
            <a:fillRect/>
          </a:stretch>
        </p:blipFill>
        <p:spPr>
          <a:xfrm>
            <a:off x="5886020" y="2715337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834640" h="2834640">
                <a:moveTo>
                  <a:pt x="1417320" y="0"/>
                </a:moveTo>
                <a:cubicBezTo>
                  <a:pt x="2200084" y="0"/>
                  <a:pt x="2834640" y="634556"/>
                  <a:pt x="2834640" y="1417320"/>
                </a:cubicBezTo>
                <a:cubicBezTo>
                  <a:pt x="2834640" y="2200084"/>
                  <a:pt x="2200084" y="2834640"/>
                  <a:pt x="1417320" y="2834640"/>
                </a:cubicBezTo>
                <a:cubicBezTo>
                  <a:pt x="634556" y="2834640"/>
                  <a:pt x="0" y="2200084"/>
                  <a:pt x="0" y="1417320"/>
                </a:cubicBezTo>
                <a:cubicBezTo>
                  <a:pt x="0" y="634556"/>
                  <a:pt x="634556" y="0"/>
                  <a:pt x="1417320" y="0"/>
                </a:cubicBezTo>
                <a:close/>
              </a:path>
            </a:pathLst>
          </a:cu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167134-29F0-BCE5-B500-A361CB9D71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01" r="-2" b="-2"/>
          <a:stretch>
            <a:fillRect/>
          </a:stretch>
        </p:blipFill>
        <p:spPr>
          <a:xfrm>
            <a:off x="8278624" y="2"/>
            <a:ext cx="3913376" cy="3281569"/>
          </a:xfrm>
          <a:custGeom>
            <a:avLst/>
            <a:gdLst/>
            <a:ahLst/>
            <a:cxnLst/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CDC29AC1-2821-4FCC-B597-88DAF39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3162" y="4604085"/>
            <a:ext cx="4281112" cy="2253913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FB50AAD-D2AA-8728-8186-CE884B84B4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781" r="5" b="6255"/>
          <a:stretch>
            <a:fillRect/>
          </a:stretch>
        </p:blipFill>
        <p:spPr>
          <a:xfrm>
            <a:off x="1818614" y="4769536"/>
            <a:ext cx="3950208" cy="2088462"/>
          </a:xfrm>
          <a:custGeom>
            <a:avLst/>
            <a:gdLst/>
            <a:ahLst/>
            <a:cxnLst/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</p:spPr>
      </p:pic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8F10CB3-3B5E-4C7A-98CF-B87454DD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8370" y="3966828"/>
            <a:ext cx="3339958" cy="2891173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4C2D99A-5F6C-BEDC-AD13-054EC2C1DE0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212" r="15708" b="-2"/>
          <a:stretch>
            <a:fillRect/>
          </a:stretch>
        </p:blipFill>
        <p:spPr>
          <a:xfrm>
            <a:off x="9009416" y="4131546"/>
            <a:ext cx="3178912" cy="2726454"/>
          </a:xfrm>
          <a:custGeom>
            <a:avLst/>
            <a:gdLst/>
            <a:ahLst/>
            <a:cxnLst/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</p:spPr>
      </p:pic>
      <p:sp>
        <p:nvSpPr>
          <p:cNvPr id="35" name="Subtítulo 2">
            <a:extLst>
              <a:ext uri="{FF2B5EF4-FFF2-40B4-BE49-F238E27FC236}">
                <a16:creationId xmlns:a16="http://schemas.microsoft.com/office/drawing/2014/main" id="{7D64F740-FC07-8195-D961-194D8A8BAEDB}"/>
              </a:ext>
            </a:extLst>
          </p:cNvPr>
          <p:cNvSpPr txBox="1">
            <a:spLocks/>
          </p:cNvSpPr>
          <p:nvPr/>
        </p:nvSpPr>
        <p:spPr>
          <a:xfrm>
            <a:off x="500427" y="190512"/>
            <a:ext cx="4333366" cy="459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B76A0"/>
                </a:solidFill>
              </a:rPr>
              <a:t>[ POR QUE ESCOLHER OS CURSOS DA ÁREA DE TI DA FURB? ]</a:t>
            </a:r>
          </a:p>
          <a:p>
            <a:pPr marL="0" indent="0">
              <a:buNone/>
            </a:pPr>
            <a:endParaRPr lang="pt-BR" sz="800" b="1" dirty="0">
              <a:solidFill>
                <a:schemeClr val="tx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pt-BR" sz="2000" b="1" dirty="0">
                <a:solidFill>
                  <a:schemeClr val="tx1">
                    <a:lumMod val="85000"/>
                  </a:schemeClr>
                </a:solidFill>
              </a:rPr>
              <a:t>ESTRUTURA FÍSICA</a:t>
            </a:r>
          </a:p>
          <a:p>
            <a:pPr marL="0" indent="0">
              <a:buNone/>
            </a:pPr>
            <a:endParaRPr lang="pt-BR" b="1" dirty="0">
              <a:solidFill>
                <a:srgbClr val="ABC81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688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6BAFC-F14B-2A99-BE25-ED6F3C03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B01B592B-DFE2-0E04-A9DC-2B23DB5B69E9}"/>
              </a:ext>
            </a:extLst>
          </p:cNvPr>
          <p:cNvSpPr/>
          <p:nvPr/>
        </p:nvSpPr>
        <p:spPr>
          <a:xfrm>
            <a:off x="8069179" y="0"/>
            <a:ext cx="412282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8FF4AC3-F35C-1AB4-0973-11DF7B556BEE}"/>
              </a:ext>
            </a:extLst>
          </p:cNvPr>
          <p:cNvSpPr/>
          <p:nvPr/>
        </p:nvSpPr>
        <p:spPr>
          <a:xfrm>
            <a:off x="3946358" y="0"/>
            <a:ext cx="4122821" cy="6858000"/>
          </a:xfrm>
          <a:prstGeom prst="rect">
            <a:avLst/>
          </a:prstGeom>
          <a:solidFill>
            <a:srgbClr val="F8E4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B25471E-98DC-9AAB-77B2-BE65CF4D5D12}"/>
              </a:ext>
            </a:extLst>
          </p:cNvPr>
          <p:cNvSpPr/>
          <p:nvPr/>
        </p:nvSpPr>
        <p:spPr>
          <a:xfrm>
            <a:off x="-176463" y="0"/>
            <a:ext cx="4122821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0C4D8F18-D238-125E-E91B-F9B99E031F5A}"/>
              </a:ext>
            </a:extLst>
          </p:cNvPr>
          <p:cNvSpPr/>
          <p:nvPr/>
        </p:nvSpPr>
        <p:spPr>
          <a:xfrm>
            <a:off x="-176464" y="0"/>
            <a:ext cx="12368464" cy="40234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0CD7C27D-F41B-D9BF-CB12-00A5C9B8F235}"/>
              </a:ext>
            </a:extLst>
          </p:cNvPr>
          <p:cNvSpPr/>
          <p:nvPr/>
        </p:nvSpPr>
        <p:spPr>
          <a:xfrm>
            <a:off x="8243657" y="574213"/>
            <a:ext cx="3774131" cy="10080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 descr="Imagem de desenho animado&#10;&#10;Descrição gerada automaticamente com confiança baixa">
            <a:extLst>
              <a:ext uri="{FF2B5EF4-FFF2-40B4-BE49-F238E27FC236}">
                <a16:creationId xmlns:a16="http://schemas.microsoft.com/office/drawing/2014/main" id="{9647031C-973A-DA7F-F454-5F4D5632D7D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3054"/>
          <a:stretch>
            <a:fillRect/>
          </a:stretch>
        </p:blipFill>
        <p:spPr>
          <a:xfrm>
            <a:off x="2004436" y="1426265"/>
            <a:ext cx="1636816" cy="18329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6" name="Imagem 25" descr="Imagem de desenho animado&#10;&#10;Descrição gerada automaticamente com confiança baixa">
            <a:extLst>
              <a:ext uri="{FF2B5EF4-FFF2-40B4-BE49-F238E27FC236}">
                <a16:creationId xmlns:a16="http://schemas.microsoft.com/office/drawing/2014/main" id="{C973CC7B-36F0-5B66-4931-4AFE44C77DD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8685" b="55936"/>
          <a:stretch>
            <a:fillRect/>
          </a:stretch>
        </p:blipFill>
        <p:spPr>
          <a:xfrm>
            <a:off x="-985" y="492764"/>
            <a:ext cx="3061428" cy="91023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7" name="Imagem 26" descr="Logotipo&#10;&#10;Descrição gerada automaticamente">
            <a:extLst>
              <a:ext uri="{FF2B5EF4-FFF2-40B4-BE49-F238E27FC236}">
                <a16:creationId xmlns:a16="http://schemas.microsoft.com/office/drawing/2014/main" id="{02041B93-D4E5-3361-4F6A-5423B5611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756" y="742800"/>
            <a:ext cx="3189628" cy="772488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0A1AA49-1C21-C63A-6B56-0C1EFDD4B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22" t="7935" b="-7108"/>
          <a:stretch>
            <a:fillRect/>
          </a:stretch>
        </p:blipFill>
        <p:spPr>
          <a:xfrm>
            <a:off x="4207744" y="5093394"/>
            <a:ext cx="3622964" cy="1730077"/>
          </a:xfrm>
          <a:prstGeom prst="rect">
            <a:avLst/>
          </a:prstGeom>
        </p:spPr>
      </p:pic>
      <p:pic>
        <p:nvPicPr>
          <p:cNvPr id="29" name="Imagem 12" descr="Logotipo, nome da empresa&#10;&#10;Descrição gerada automaticamente">
            <a:extLst>
              <a:ext uri="{FF2B5EF4-FFF2-40B4-BE49-F238E27FC236}">
                <a16:creationId xmlns:a16="http://schemas.microsoft.com/office/drawing/2014/main" id="{DF5C8921-C1D4-2E82-6EB9-624D956003F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DFD"/>
              </a:clrFrom>
              <a:clrTo>
                <a:srgbClr val="FF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73597" y="485001"/>
            <a:ext cx="3100734" cy="1145390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B6B1B5DC-6539-452B-F757-38AA2A2818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139" y="3654601"/>
            <a:ext cx="1692000" cy="136262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A6399A21-5EB3-5A3F-DEB7-009DB2FD18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9389" y="3624050"/>
            <a:ext cx="1702800" cy="1405176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4B91CE65-2A3E-7487-940C-3322AB7324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22799" y="3512313"/>
            <a:ext cx="1699200" cy="1394343"/>
          </a:xfrm>
          <a:prstGeom prst="rect">
            <a:avLst/>
          </a:prstGeom>
        </p:spPr>
      </p:pic>
      <p:pic>
        <p:nvPicPr>
          <p:cNvPr id="43" name="Imagem 42">
            <a:extLst>
              <a:ext uri="{FF2B5EF4-FFF2-40B4-BE49-F238E27FC236}">
                <a16:creationId xmlns:a16="http://schemas.microsoft.com/office/drawing/2014/main" id="{FDFE7A53-F7C9-DB9B-F2C7-890C9CD2110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49250"/>
          <a:stretch>
            <a:fillRect/>
          </a:stretch>
        </p:blipFill>
        <p:spPr>
          <a:xfrm>
            <a:off x="10171826" y="4293968"/>
            <a:ext cx="1845962" cy="102003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C3ABC283-E0BD-D6E9-ACE3-AFF8B5B6F4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0326" y="2010833"/>
            <a:ext cx="1702800" cy="1338363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9903D991-7EB1-B59A-E85F-2DA8768E09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61273" y="2010833"/>
            <a:ext cx="1702800" cy="1338363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86BAF346-8FE8-86D5-AEBE-7836AEE855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0436" y="3484612"/>
            <a:ext cx="1702800" cy="1394343"/>
          </a:xfrm>
          <a:prstGeom prst="rect">
            <a:avLst/>
          </a:prstGeom>
        </p:spPr>
      </p:pic>
      <p:pic>
        <p:nvPicPr>
          <p:cNvPr id="55" name="Imagem 54">
            <a:extLst>
              <a:ext uri="{FF2B5EF4-FFF2-40B4-BE49-F238E27FC236}">
                <a16:creationId xmlns:a16="http://schemas.microsoft.com/office/drawing/2014/main" id="{F6681BAC-591F-D678-F609-1182E3095DF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091" y="2326075"/>
            <a:ext cx="1702800" cy="1139566"/>
          </a:xfrm>
          <a:prstGeom prst="rect">
            <a:avLst/>
          </a:prstGeom>
        </p:spPr>
      </p:pic>
      <p:pic>
        <p:nvPicPr>
          <p:cNvPr id="57" name="Imagem 56">
            <a:extLst>
              <a:ext uri="{FF2B5EF4-FFF2-40B4-BE49-F238E27FC236}">
                <a16:creationId xmlns:a16="http://schemas.microsoft.com/office/drawing/2014/main" id="{9ED91E1C-7571-90D0-B0C7-65699708F59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20320" y="5182882"/>
            <a:ext cx="1699765" cy="1548000"/>
          </a:xfrm>
          <a:prstGeom prst="rect">
            <a:avLst/>
          </a:prstGeom>
        </p:spPr>
      </p:pic>
      <p:pic>
        <p:nvPicPr>
          <p:cNvPr id="59" name="Imagem 58">
            <a:extLst>
              <a:ext uri="{FF2B5EF4-FFF2-40B4-BE49-F238E27FC236}">
                <a16:creationId xmlns:a16="http://schemas.microsoft.com/office/drawing/2014/main" id="{D44A0DE4-25D5-653F-3010-1BE9BFC6879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9091" y="5210434"/>
            <a:ext cx="1699765" cy="1548000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53C51557-0E35-D7DE-E837-44CA402A761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43658" y="2026844"/>
            <a:ext cx="3774130" cy="211349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65" name="Imagem 64">
            <a:extLst>
              <a:ext uri="{FF2B5EF4-FFF2-40B4-BE49-F238E27FC236}">
                <a16:creationId xmlns:a16="http://schemas.microsoft.com/office/drawing/2014/main" id="{BB6ED310-92E8-006F-3EEF-78ADF08ACDD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46630" y="5485869"/>
            <a:ext cx="1878288" cy="1245012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12502FB3-1162-7947-D315-644D72E615D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43657" y="4319566"/>
            <a:ext cx="1689697" cy="2411315"/>
          </a:xfrm>
          <a:prstGeom prst="rect">
            <a:avLst/>
          </a:prstGeom>
        </p:spPr>
      </p:pic>
      <p:sp>
        <p:nvSpPr>
          <p:cNvPr id="71" name="Título 1">
            <a:extLst>
              <a:ext uri="{FF2B5EF4-FFF2-40B4-BE49-F238E27FC236}">
                <a16:creationId xmlns:a16="http://schemas.microsoft.com/office/drawing/2014/main" id="{6EE55A9F-C6A6-3DF6-FDDE-2C8CAF964670}"/>
              </a:ext>
            </a:extLst>
          </p:cNvPr>
          <p:cNvSpPr txBox="1">
            <a:spLocks/>
          </p:cNvSpPr>
          <p:nvPr/>
        </p:nvSpPr>
        <p:spPr>
          <a:xfrm>
            <a:off x="-176464" y="63802"/>
            <a:ext cx="12368464" cy="3623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pt-BR" sz="2000" b="1" kern="0" dirty="0">
                <a:solidFill>
                  <a:schemeClr val="bg1"/>
                </a:solidFill>
                <a:latin typeface="Acumin Pro"/>
              </a:rPr>
              <a:t>[ Projetos de extensão ]</a:t>
            </a:r>
            <a:endParaRPr lang="en-US" sz="2000" b="1" kern="0" dirty="0">
              <a:solidFill>
                <a:schemeClr val="bg1"/>
              </a:solidFill>
              <a:latin typeface="Acumin Pro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604CC7-7C28-61A8-7439-882BE021F443}"/>
              </a:ext>
            </a:extLst>
          </p:cNvPr>
          <p:cNvSpPr/>
          <p:nvPr/>
        </p:nvSpPr>
        <p:spPr>
          <a:xfrm>
            <a:off x="-110479" y="476144"/>
            <a:ext cx="3898400" cy="631805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70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07E2-235D-A5FA-A2D4-B7DB8563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2B28468-975B-AC40-04A6-C5C95AD527D7}"/>
              </a:ext>
            </a:extLst>
          </p:cNvPr>
          <p:cNvSpPr/>
          <p:nvPr/>
        </p:nvSpPr>
        <p:spPr>
          <a:xfrm>
            <a:off x="-3" y="0"/>
            <a:ext cx="12192001" cy="759059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641B85B-4463-EF3E-4D53-50ACA4584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17" y="180930"/>
            <a:ext cx="11539959" cy="972406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pt-BR" sz="6000" b="1" dirty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[ Possibilidade de dupla titulação ]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9A1A067-C3F6-9C2D-4B8D-1E7293AC6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97" y="3883151"/>
            <a:ext cx="4231459" cy="255722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D79A7AF-98CC-4639-1755-6C6B650412CF}"/>
              </a:ext>
            </a:extLst>
          </p:cNvPr>
          <p:cNvSpPr txBox="1"/>
          <p:nvPr/>
        </p:nvSpPr>
        <p:spPr>
          <a:xfrm>
            <a:off x="5701598" y="5915805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4">
                    <a:lumMod val="50000"/>
                  </a:schemeClr>
                </a:solidFill>
              </a:rPr>
              <a:t>https://www.jade-hs.de/en/</a:t>
            </a:r>
          </a:p>
        </p:txBody>
      </p:sp>
      <p:pic>
        <p:nvPicPr>
          <p:cNvPr id="7" name="Imagem 6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199E4B1B-69BC-A72E-DBF8-C82D86E22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20" y="1494910"/>
            <a:ext cx="1960395" cy="1660012"/>
          </a:xfrm>
          <a:prstGeom prst="rect">
            <a:avLst/>
          </a:prstGeom>
        </p:spPr>
      </p:pic>
      <p:pic>
        <p:nvPicPr>
          <p:cNvPr id="13" name="Imagem 12" descr="Bola de basquete&#10;&#10;O conteúdo gerado por IA pode estar incorreto.">
            <a:extLst>
              <a:ext uri="{FF2B5EF4-FFF2-40B4-BE49-F238E27FC236}">
                <a16:creationId xmlns:a16="http://schemas.microsoft.com/office/drawing/2014/main" id="{85E88B9A-E826-9959-A95D-97E76A2C2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012" y="4502559"/>
            <a:ext cx="2784349" cy="151468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385ABFE-2354-5010-9C83-319F17A16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3708" y="1585893"/>
            <a:ext cx="2429214" cy="151468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2A95C810-81D0-418D-D3CB-46B0672593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7162" y="4380971"/>
            <a:ext cx="2438740" cy="1514686"/>
          </a:xfrm>
          <a:prstGeom prst="rect">
            <a:avLst/>
          </a:prstGeom>
        </p:spPr>
      </p:pic>
      <p:pic>
        <p:nvPicPr>
          <p:cNvPr id="3" name="Imagem 2" descr="Bandeira da Itália - Toda Matéria">
            <a:hlinkClick r:id="rId7"/>
            <a:extLst>
              <a:ext uri="{FF2B5EF4-FFF2-40B4-BE49-F238E27FC236}">
                <a16:creationId xmlns:a16="http://schemas.microsoft.com/office/drawing/2014/main" id="{A7074734-D7FB-FF48-1C52-E9A621A2D6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3604" y="1880398"/>
            <a:ext cx="2472298" cy="1297956"/>
          </a:xfrm>
          <a:prstGeom prst="rect">
            <a:avLst/>
          </a:prstGeom>
        </p:spPr>
      </p:pic>
      <p:pic>
        <p:nvPicPr>
          <p:cNvPr id="10" name="Imagem 9" descr="trento01">
            <a:extLst>
              <a:ext uri="{FF2B5EF4-FFF2-40B4-BE49-F238E27FC236}">
                <a16:creationId xmlns:a16="http://schemas.microsoft.com/office/drawing/2014/main" id="{C929D115-4E5B-E119-C4CC-AB4A4BACC570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11595" t="24972" r="11292" b="27758"/>
          <a:stretch>
            <a:fillRect/>
          </a:stretch>
        </p:blipFill>
        <p:spPr>
          <a:xfrm>
            <a:off x="8546208" y="1874502"/>
            <a:ext cx="3538262" cy="1220014"/>
          </a:xfrm>
          <a:prstGeom prst="rect">
            <a:avLst/>
          </a:prstGeom>
        </p:spPr>
      </p:pic>
      <p:sp>
        <p:nvSpPr>
          <p:cNvPr id="11" name="Colchete Direito 10">
            <a:extLst>
              <a:ext uri="{FF2B5EF4-FFF2-40B4-BE49-F238E27FC236}">
                <a16:creationId xmlns:a16="http://schemas.microsoft.com/office/drawing/2014/main" id="{6679A54A-1795-6E5A-A2DC-ACB97689B846}"/>
              </a:ext>
            </a:extLst>
          </p:cNvPr>
          <p:cNvSpPr/>
          <p:nvPr/>
        </p:nvSpPr>
        <p:spPr>
          <a:xfrm flipH="1">
            <a:off x="5306895" y="1346200"/>
            <a:ext cx="394702" cy="5289824"/>
          </a:xfrm>
          <a:prstGeom prst="rightBracket">
            <a:avLst/>
          </a:prstGeom>
          <a:ln>
            <a:solidFill>
              <a:srgbClr val="0B76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F7F483D-DA9D-59CB-3AAD-5399AA67A21C}"/>
              </a:ext>
            </a:extLst>
          </p:cNvPr>
          <p:cNvSpPr txBox="1"/>
          <p:nvPr/>
        </p:nvSpPr>
        <p:spPr>
          <a:xfrm>
            <a:off x="5918511" y="317730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https://www.unitn.it/it</a:t>
            </a:r>
          </a:p>
        </p:txBody>
      </p:sp>
    </p:spTree>
    <p:extLst>
      <p:ext uri="{BB962C8B-B14F-4D97-AF65-F5344CB8AC3E}">
        <p14:creationId xmlns:p14="http://schemas.microsoft.com/office/powerpoint/2010/main" val="183030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1F536-1729-E8AC-7A3D-AB7B1D193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C9A18C1D-685D-DF3D-3354-4D82ACA462C1}"/>
              </a:ext>
            </a:extLst>
          </p:cNvPr>
          <p:cNvSpPr/>
          <p:nvPr/>
        </p:nvSpPr>
        <p:spPr>
          <a:xfrm>
            <a:off x="-1" y="1"/>
            <a:ext cx="12192001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3B978F0-41FA-75A2-D2C2-5C9DC4194F93}"/>
              </a:ext>
            </a:extLst>
          </p:cNvPr>
          <p:cNvSpPr txBox="1"/>
          <p:nvPr/>
        </p:nvSpPr>
        <p:spPr>
          <a:xfrm>
            <a:off x="0" y="693157"/>
            <a:ext cx="12192001" cy="92871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pt-BR" sz="5400" dirty="0"/>
              <a:t>[ Pesquisa, inovação e transferência ]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79FF819-94A6-E065-A327-7C449CC27A1D}"/>
              </a:ext>
            </a:extLst>
          </p:cNvPr>
          <p:cNvSpPr/>
          <p:nvPr/>
        </p:nvSpPr>
        <p:spPr>
          <a:xfrm>
            <a:off x="6847295" y="4189433"/>
            <a:ext cx="4602108" cy="141871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/>
            <a:r>
              <a:rPr lang="pt-BR" sz="3600" dirty="0"/>
              <a:t>Agência Integrada de Computação Aplica</a:t>
            </a:r>
            <a:endParaRPr lang="pt-BR" sz="3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53FF2F3-6CFD-59B9-9235-19C4F957D63D}"/>
              </a:ext>
            </a:extLst>
          </p:cNvPr>
          <p:cNvSpPr txBox="1"/>
          <p:nvPr/>
        </p:nvSpPr>
        <p:spPr>
          <a:xfrm>
            <a:off x="1418686" y="2084196"/>
            <a:ext cx="3094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Prestação de serviços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E473AD-0525-C2A5-0950-C70096C67E71}"/>
              </a:ext>
            </a:extLst>
          </p:cNvPr>
          <p:cNvSpPr txBox="1"/>
          <p:nvPr/>
        </p:nvSpPr>
        <p:spPr>
          <a:xfrm>
            <a:off x="7777941" y="2112078"/>
            <a:ext cx="2740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solidFill>
                  <a:schemeClr val="accent6">
                    <a:lumMod val="75000"/>
                  </a:schemeClr>
                </a:solidFill>
              </a:rPr>
              <a:t>Portifólio / Startups</a:t>
            </a: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28DACB34-A7AE-3C3C-053E-3212EDC4B60D}"/>
              </a:ext>
            </a:extLst>
          </p:cNvPr>
          <p:cNvSpPr/>
          <p:nvPr/>
        </p:nvSpPr>
        <p:spPr>
          <a:xfrm>
            <a:off x="2527227" y="2632778"/>
            <a:ext cx="883404" cy="1088755"/>
          </a:xfrm>
          <a:prstGeom prst="downArrow">
            <a:avLst/>
          </a:prstGeom>
          <a:solidFill>
            <a:srgbClr val="FC9B0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7509F97A-62B9-0552-136D-9BACF790BE51}"/>
              </a:ext>
            </a:extLst>
          </p:cNvPr>
          <p:cNvSpPr/>
          <p:nvPr/>
        </p:nvSpPr>
        <p:spPr>
          <a:xfrm>
            <a:off x="8706647" y="2641626"/>
            <a:ext cx="883404" cy="1088755"/>
          </a:xfrm>
          <a:prstGeom prst="downArrow">
            <a:avLst/>
          </a:prstGeom>
          <a:solidFill>
            <a:srgbClr val="3B7D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8DFD508-45FF-7EA2-EAB8-2949048EC2F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24" y="4032699"/>
            <a:ext cx="4909683" cy="1640332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91C65390-0FE1-DF9F-7854-B00D92A3824B}"/>
              </a:ext>
            </a:extLst>
          </p:cNvPr>
          <p:cNvSpPr txBox="1"/>
          <p:nvPr/>
        </p:nvSpPr>
        <p:spPr>
          <a:xfrm>
            <a:off x="329388" y="-26301"/>
            <a:ext cx="11533222" cy="87293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defPPr>
              <a:defRPr lang="pt-BR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5600" b="1">
                <a:solidFill>
                  <a:srgbClr val="0B76A0"/>
                </a:solidFill>
              </a:defRPr>
            </a:lvl1pPr>
          </a:lstStyle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32407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54AED48-BB26-8185-2E5E-0D970C41AFF5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1A1E1E1-FBEA-9C9D-01BD-A17D66A41CD1}"/>
              </a:ext>
            </a:extLst>
          </p:cNvPr>
          <p:cNvSpPr txBox="1"/>
          <p:nvPr/>
        </p:nvSpPr>
        <p:spPr>
          <a:xfrm>
            <a:off x="746630" y="1507521"/>
            <a:ext cx="8009911" cy="5290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ct val="20000"/>
              </a:spcBef>
              <a:buClr>
                <a:srgbClr val="0070C0"/>
              </a:buClr>
              <a:buFont typeface="Wingdings" pitchFamily="2" charset="2"/>
              <a:buChar char="8"/>
              <a:defRPr/>
            </a:pPr>
            <a:endParaRPr lang="pt-BR" sz="400" dirty="0">
              <a:solidFill>
                <a:schemeClr val="accent4">
                  <a:lumMod val="50000"/>
                </a:schemeClr>
              </a:solidFill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BR" sz="3200" dirty="0"/>
              <a:t>Bolsas institucionais e estágios internos: </a:t>
            </a:r>
            <a:r>
              <a:rPr lang="pt-BR" b="1" dirty="0"/>
              <a:t>(R$ 700,00 e R$ 3.500,00)</a:t>
            </a:r>
            <a:endParaRPr lang="pt-BR" sz="2000" b="1" dirty="0">
              <a:cs typeface="Times New Roman" pitchFamily="18" charset="0"/>
            </a:endParaRPr>
          </a:p>
          <a:p>
            <a:pPr marL="914400" lvl="1" indent="-457200">
              <a:spcBef>
                <a:spcPct val="20000"/>
              </a:spcBef>
              <a:buFont typeface="Arial" panose="020B0604020202020204" pitchFamily="34" charset="0"/>
              <a:buChar char="‒"/>
              <a:defRPr/>
            </a:pP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 Monitoria</a:t>
            </a:r>
          </a:p>
          <a:p>
            <a:pPr marL="914400" lvl="1" indent="-457200">
              <a:spcBef>
                <a:spcPct val="20000"/>
              </a:spcBef>
              <a:buFont typeface="Arial" panose="020B0604020202020204" pitchFamily="34" charset="0"/>
              <a:buChar char="‒"/>
              <a:defRPr/>
            </a:pP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 Bolsas de pesquisa</a:t>
            </a:r>
          </a:p>
          <a:p>
            <a:pPr marL="914400" lvl="1" indent="-457200">
              <a:spcBef>
                <a:spcPct val="20000"/>
              </a:spcBef>
              <a:buFont typeface="Arial" panose="020B0604020202020204" pitchFamily="34" charset="0"/>
              <a:buChar char="‒"/>
              <a:defRPr/>
            </a:pPr>
            <a:r>
              <a:rPr lang="pt-BR" sz="2800" dirty="0">
                <a:solidFill>
                  <a:schemeClr val="accent4">
                    <a:lumMod val="50000"/>
                  </a:schemeClr>
                </a:solidFill>
              </a:rPr>
              <a:t> Bolsas de extensão</a:t>
            </a:r>
          </a:p>
          <a:p>
            <a:pPr marL="914400" lvl="1" indent="-457200">
              <a:spcBef>
                <a:spcPct val="20000"/>
              </a:spcBef>
              <a:buFont typeface="Arial" panose="020B0604020202020204" pitchFamily="34" charset="0"/>
              <a:buChar char="‒"/>
              <a:defRPr/>
            </a:pPr>
            <a:endParaRPr lang="pt-BR" dirty="0">
              <a:solidFill>
                <a:schemeClr val="accent4">
                  <a:lumMod val="50000"/>
                </a:schemeClr>
              </a:solidFill>
            </a:endParaRPr>
          </a:p>
          <a:p>
            <a:pPr marL="457200" indent="-457200">
              <a:spcBef>
                <a:spcPts val="1800"/>
              </a:spcBef>
              <a:buFont typeface="Arial" panose="020B0604020202020204" pitchFamily="34" charset="0"/>
              <a:buChar char="•"/>
              <a:defRPr/>
            </a:pPr>
            <a:r>
              <a:rPr lang="pt-BR" sz="3200" dirty="0"/>
              <a:t>Universidade gratuita</a:t>
            </a: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pt-BR" sz="3200" dirty="0">
              <a:solidFill>
                <a:schemeClr val="accent4">
                  <a:lumMod val="50000"/>
                </a:schemeClr>
              </a:solidFill>
            </a:endParaRPr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pt-BR" sz="48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0179" name="Imagem 10" descr="2.jpg">
            <a:extLst>
              <a:ext uri="{FF2B5EF4-FFF2-40B4-BE49-F238E27FC236}">
                <a16:creationId xmlns:a16="http://schemas.microsoft.com/office/drawing/2014/main" id="{E89FB406-5A2C-1734-910E-260EEF9D172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95" y="2589385"/>
            <a:ext cx="4061590" cy="312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27771D72-FF9F-F8C9-298A-6E8D05C33CE3}"/>
              </a:ext>
            </a:extLst>
          </p:cNvPr>
          <p:cNvSpPr txBox="1">
            <a:spLocks/>
          </p:cNvSpPr>
          <p:nvPr/>
        </p:nvSpPr>
        <p:spPr>
          <a:xfrm>
            <a:off x="326019" y="267558"/>
            <a:ext cx="11539959" cy="972406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600" b="1" dirty="0">
                <a:solidFill>
                  <a:srgbClr val="0B76A0"/>
                </a:solidFill>
                <a:latin typeface="+mn-lt"/>
                <a:ea typeface="+mn-ea"/>
                <a:cs typeface="+mn-cs"/>
              </a:rPr>
              <a:t>[ Bolsas de estudo ]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C798264-1E27-6667-DFC3-4826F8ECC1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44040" y="5209757"/>
            <a:ext cx="1705213" cy="145752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327B81A-C590-5EE2-E373-628583B4386E}"/>
              </a:ext>
            </a:extLst>
          </p:cNvPr>
          <p:cNvSpPr txBox="1"/>
          <p:nvPr/>
        </p:nvSpPr>
        <p:spPr>
          <a:xfrm>
            <a:off x="7428451" y="5116492"/>
            <a:ext cx="3960248" cy="14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pt-BR" sz="4800" dirty="0"/>
          </a:p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pt-BR" sz="3200" dirty="0"/>
              <a:t>Estágio na área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9C65E16-D2B6-3D60-B936-2E5C5897E769}"/>
              </a:ext>
            </a:extLst>
          </p:cNvPr>
          <p:cNvSpPr/>
          <p:nvPr/>
        </p:nvSpPr>
        <p:spPr>
          <a:xfrm>
            <a:off x="-1" y="-498379"/>
            <a:ext cx="12192001" cy="759059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1804B5-F8AA-5DD4-04C9-16775693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4331" y="179153"/>
            <a:ext cx="5165898" cy="1600200"/>
          </a:xfrm>
        </p:spPr>
        <p:txBody>
          <a:bodyPr/>
          <a:lstStyle/>
          <a:p>
            <a:r>
              <a:rPr lang="pt-BR"/>
              <a:t>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5417074-0809-C502-58A0-00B6222889CB}"/>
              </a:ext>
            </a:extLst>
          </p:cNvPr>
          <p:cNvSpPr txBox="1"/>
          <p:nvPr/>
        </p:nvSpPr>
        <p:spPr>
          <a:xfrm>
            <a:off x="796308" y="4989186"/>
            <a:ext cx="2983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000000"/>
                </a:solidFill>
                <a:latin typeface="YAFdJgT0SHI 0"/>
              </a:rPr>
              <a:t>dsc.furb.br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4D71A47-04C5-F073-0333-9D7632626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31" y="4422704"/>
            <a:ext cx="360040" cy="36004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D70BB0D-6F40-8459-3143-589F2F7C6D14}"/>
              </a:ext>
            </a:extLst>
          </p:cNvPr>
          <p:cNvSpPr txBox="1"/>
          <p:nvPr/>
        </p:nvSpPr>
        <p:spPr>
          <a:xfrm>
            <a:off x="853818" y="4345909"/>
            <a:ext cx="206806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800" dirty="0">
                <a:solidFill>
                  <a:srgbClr val="000000"/>
                </a:solidFill>
                <a:latin typeface="YAFdJgT0SHI 0"/>
              </a:rPr>
              <a:t>@dscfurb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630D7312-B8EB-FBD1-3CAD-9D7EC3219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68" y="5070776"/>
            <a:ext cx="360040" cy="36004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77994CD-48CC-4CBA-6C2E-14253DE783E4}"/>
              </a:ext>
            </a:extLst>
          </p:cNvPr>
          <p:cNvSpPr txBox="1"/>
          <p:nvPr/>
        </p:nvSpPr>
        <p:spPr>
          <a:xfrm>
            <a:off x="200490" y="2734947"/>
            <a:ext cx="299633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[ </a:t>
            </a:r>
            <a:r>
              <a:rPr lang="pt-BR" sz="6600" b="1" dirty="0"/>
              <a:t>DSC</a:t>
            </a:r>
            <a:r>
              <a:rPr lang="pt-BR" sz="8000" b="1" dirty="0"/>
              <a:t> </a:t>
            </a:r>
            <a:r>
              <a:rPr lang="pt-BR" sz="8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]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157F5C5-01B9-9530-A3E9-E8FAE1E7C311}"/>
              </a:ext>
            </a:extLst>
          </p:cNvPr>
          <p:cNvGrpSpPr/>
          <p:nvPr/>
        </p:nvGrpSpPr>
        <p:grpSpPr>
          <a:xfrm>
            <a:off x="9044210" y="1440078"/>
            <a:ext cx="2711521" cy="5058842"/>
            <a:chOff x="8485929" y="1293807"/>
            <a:chExt cx="2705158" cy="4809169"/>
          </a:xfrm>
        </p:grpSpPr>
        <p:pic>
          <p:nvPicPr>
            <p:cNvPr id="9" name="Imagem 8" descr="Linha do tempo&#10;&#10;O conteúdo gerado por IA pode estar incorreto.">
              <a:extLst>
                <a:ext uri="{FF2B5EF4-FFF2-40B4-BE49-F238E27FC236}">
                  <a16:creationId xmlns:a16="http://schemas.microsoft.com/office/drawing/2014/main" id="{26ABA146-6ADF-98F6-52B5-117D1C879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91495" y="1399749"/>
              <a:ext cx="2101041" cy="4668980"/>
            </a:xfrm>
            <a:prstGeom prst="rect">
              <a:avLst/>
            </a:prstGeom>
          </p:spPr>
        </p:pic>
        <p:pic>
          <p:nvPicPr>
            <p:cNvPr id="11" name="Imagem 10" descr="Uma imagem contendo Forma&#10;&#10;Descrição gerada automaticamente">
              <a:extLst>
                <a:ext uri="{FF2B5EF4-FFF2-40B4-BE49-F238E27FC236}">
                  <a16:creationId xmlns:a16="http://schemas.microsoft.com/office/drawing/2014/main" id="{BFF16469-3C0E-32D6-299D-38B1E049F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929" y="1293807"/>
              <a:ext cx="2705158" cy="4809169"/>
            </a:xfrm>
            <a:prstGeom prst="rect">
              <a:avLst/>
            </a:prstGeom>
          </p:spPr>
        </p:pic>
      </p:grpSp>
      <p:sp>
        <p:nvSpPr>
          <p:cNvPr id="14" name="Espaço Reservado para Conteúdo 7">
            <a:extLst>
              <a:ext uri="{FF2B5EF4-FFF2-40B4-BE49-F238E27FC236}">
                <a16:creationId xmlns:a16="http://schemas.microsoft.com/office/drawing/2014/main" id="{1987C3E2-A019-0B14-FFC5-BE27E94F7F38}"/>
              </a:ext>
            </a:extLst>
          </p:cNvPr>
          <p:cNvSpPr txBox="1">
            <a:spLocks/>
          </p:cNvSpPr>
          <p:nvPr/>
        </p:nvSpPr>
        <p:spPr>
          <a:xfrm>
            <a:off x="9478963" y="939595"/>
            <a:ext cx="2719419" cy="63790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00" b="1" u="sng" dirty="0">
                <a:solidFill>
                  <a:schemeClr val="accent4">
                    <a:lumMod val="75000"/>
                  </a:schemeClr>
                </a:solidFill>
                <a:latin typeface="Avenir Next LT Pro"/>
              </a:rPr>
              <a:t>@dscfurb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65BD861-EAC6-5788-BB89-DEE10B2A73DA}"/>
              </a:ext>
            </a:extLst>
          </p:cNvPr>
          <p:cNvSpPr txBox="1"/>
          <p:nvPr/>
        </p:nvSpPr>
        <p:spPr>
          <a:xfrm>
            <a:off x="200490" y="61476"/>
            <a:ext cx="54637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b="1" dirty="0">
                <a:solidFill>
                  <a:schemeClr val="accent4">
                    <a:lumMod val="75000"/>
                  </a:schemeClr>
                </a:solidFill>
              </a:rPr>
              <a:t>[ Informações ]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CFCB806-D002-9760-C10C-C1868E99222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05905" y="1583334"/>
            <a:ext cx="4953691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2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9A6D6DB4C58C74D86699B716B55C50E" ma:contentTypeVersion="18" ma:contentTypeDescription="Crie um novo documento." ma:contentTypeScope="" ma:versionID="6cd9345048ba7b5a36339eaa48016344">
  <xsd:schema xmlns:xsd="http://www.w3.org/2001/XMLSchema" xmlns:xs="http://www.w3.org/2001/XMLSchema" xmlns:p="http://schemas.microsoft.com/office/2006/metadata/properties" xmlns:ns3="81529919-bb3c-4b28-aa14-6d8510b195e6" xmlns:ns4="a37948bc-07af-4ff6-818e-9d8510523f27" targetNamespace="http://schemas.microsoft.com/office/2006/metadata/properties" ma:root="true" ma:fieldsID="15f97b90ddfa9f5eab1c9ce9e4f09b1e" ns3:_="" ns4:_="">
    <xsd:import namespace="81529919-bb3c-4b28-aa14-6d8510b195e6"/>
    <xsd:import namespace="a37948bc-07af-4ff6-818e-9d8510523f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529919-bb3c-4b28-aa14-6d8510b195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7948bc-07af-4ff6-818e-9d8510523f2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529919-bb3c-4b28-aa14-6d8510b195e6" xsi:nil="true"/>
  </documentManagement>
</p:properties>
</file>

<file path=customXml/itemProps1.xml><?xml version="1.0" encoding="utf-8"?>
<ds:datastoreItem xmlns:ds="http://schemas.openxmlformats.org/officeDocument/2006/customXml" ds:itemID="{4782853E-BDF3-4367-94CF-EC46D5910C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529919-bb3c-4b28-aa14-6d8510b195e6"/>
    <ds:schemaRef ds:uri="a37948bc-07af-4ff6-818e-9d8510523f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C7EC73-2D90-4A47-A539-9855AC7F0F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70FD5F-AD7F-4218-B3A4-9A19102BA80A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a37948bc-07af-4ff6-818e-9d8510523f27"/>
    <ds:schemaRef ds:uri="http://purl.org/dc/dcmitype/"/>
    <ds:schemaRef ds:uri="http://schemas.microsoft.com/office/2006/metadata/properties"/>
    <ds:schemaRef ds:uri="81529919-bb3c-4b28-aa14-6d8510b195e6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1842</TotalTime>
  <Words>260</Words>
  <Application>Microsoft Macintosh PowerPoint</Application>
  <PresentationFormat>Widescreen</PresentationFormat>
  <Paragraphs>68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21" baseType="lpstr">
      <vt:lpstr>Acumin Pro</vt:lpstr>
      <vt:lpstr>Aptos</vt:lpstr>
      <vt:lpstr>Aptos Display</vt:lpstr>
      <vt:lpstr>Arial</vt:lpstr>
      <vt:lpstr>Avenir Next LT Pro</vt:lpstr>
      <vt:lpstr>Calibri</vt:lpstr>
      <vt:lpstr>Neue Haas Grotesk Text Pro</vt:lpstr>
      <vt:lpstr>Times New Roman</vt:lpstr>
      <vt:lpstr>Wingdings</vt:lpstr>
      <vt:lpstr>YAFdJgT0SHI 0</vt:lpstr>
      <vt:lpstr>Tema do Office</vt:lpstr>
      <vt:lpstr>Apresentação do PowerPoint</vt:lpstr>
      <vt:lpstr>Linhas do Tempo:  Cursos de Graduação </vt:lpstr>
      <vt:lpstr>[ Diferença entre os cursos? ]</vt:lpstr>
      <vt:lpstr>[ Nós somos ]</vt:lpstr>
      <vt:lpstr>Apresentação do PowerPoint</vt:lpstr>
      <vt:lpstr>Apresentação do PowerPoint</vt:lpstr>
      <vt:lpstr>[ Possibilidade de dupla titulação ]</vt:lpstr>
      <vt:lpstr>Apresentação do PowerPoint</vt:lpstr>
      <vt:lpstr>Apresentação do PowerPoint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Thayná Aparecida Lehmann</dc:creator>
  <cp:lastModifiedBy>Dalton Solano dos Reis</cp:lastModifiedBy>
  <cp:revision>15</cp:revision>
  <dcterms:created xsi:type="dcterms:W3CDTF">2025-09-04T13:33:37Z</dcterms:created>
  <dcterms:modified xsi:type="dcterms:W3CDTF">2026-09-22T12:28:18Z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0x01010039A6D6DB4C58C74D86699B716B55C50E</vt:lpwstr>
  </property>
</Properties>
</file>